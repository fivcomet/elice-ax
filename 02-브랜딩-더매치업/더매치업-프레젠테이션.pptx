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Noto Sans KR"/>
      <p:regular r:id="rId11"/>
      <p:bold r:id="rId12"/>
    </p:embeddedFon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KR-regular.fntdata"/><Relationship Id="rId10" Type="http://schemas.openxmlformats.org/officeDocument/2006/relationships/slide" Target="slides/slide5.xml"/><Relationship Id="rId13" Type="http://schemas.openxmlformats.org/officeDocument/2006/relationships/font" Target="fonts/Oswald-regular.fntdata"/><Relationship Id="rId12" Type="http://schemas.openxmlformats.org/officeDocument/2006/relationships/font" Target="fonts/NotoSansK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090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848350"/>
            <a:ext cx="10972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2127051"/>
            <a:ext cx="1552575" cy="323850"/>
          </a:xfrm>
          <a:prstGeom prst="roundRect">
            <a:avLst>
              <a:gd fmla="val 11764" name="adj"/>
            </a:avLst>
          </a:prstGeom>
          <a:solidFill>
            <a:srgbClr val="3F0A12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09600" y="58483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2350" y="6057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0" y="60579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09600" y="609600"/>
            <a:ext cx="1057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Oswald"/>
                <a:ea typeface="Oswald"/>
                <a:cs typeface="Oswald"/>
                <a:sym typeface="Oswald"/>
              </a:rPr>
              <a:t>/* elice */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620375" y="657225"/>
            <a:ext cx="124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8CBD0"/>
                </a:solidFill>
                <a:latin typeface="Noto Sans KR"/>
                <a:ea typeface="Noto Sans KR"/>
                <a:cs typeface="Noto Sans KR"/>
                <a:sym typeface="Noto Sans KR"/>
              </a:rPr>
              <a:t>(주) 엘리스그룹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2184201"/>
            <a:ext cx="13430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Noto Sans KR"/>
                <a:ea typeface="Noto Sans KR"/>
                <a:cs typeface="Noto Sans KR"/>
                <a:sym typeface="Noto Sans KR"/>
              </a:rPr>
              <a:t>MEDIA FRANCHISE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2603301"/>
            <a:ext cx="1158240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더 매치업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E63946"/>
                </a:solidFill>
                <a:latin typeface="Oswald"/>
                <a:ea typeface="Oswald"/>
                <a:cs typeface="Oswald"/>
                <a:sym typeface="Oswald"/>
              </a:rPr>
              <a:t>THE MATCH-UP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4340423"/>
            <a:ext cx="1158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8CBD0"/>
                </a:solidFill>
                <a:latin typeface="Noto Sans KR"/>
                <a:ea typeface="Noto Sans KR"/>
                <a:cs typeface="Noto Sans KR"/>
                <a:sym typeface="Noto Sans KR"/>
              </a:rPr>
              <a:t>말 대신 링 위에서 끝내는 인플루언서 격투 미디어 쇼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09600" y="6048375"/>
            <a:ext cx="5131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Confidential and Proprietary. Copyright (c) by 2026, Elice All Rights Reserved.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10275" y="2288976"/>
            <a:ext cx="5572125" cy="2184796"/>
          </a:xfrm>
          <a:prstGeom prst="roundRect">
            <a:avLst>
              <a:gd fmla="val 3487" name="adj"/>
            </a:avLst>
          </a:prstGeom>
          <a:solidFill>
            <a:srgbClr val="FFFFFF"/>
          </a:solidFill>
          <a:ln cap="flat" cmpd="sng" w="9525">
            <a:solidFill>
              <a:srgbClr val="C8C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" y="3130748"/>
            <a:ext cx="4943475" cy="151447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3130748"/>
            <a:ext cx="57150" cy="15144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62711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" y="3464123"/>
            <a:ext cx="2095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09600" y="552450"/>
            <a:ext cx="20835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01. BRAND DIRECTION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668000" y="533400"/>
            <a:ext cx="100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Oswald"/>
                <a:ea typeface="Oswald"/>
                <a:cs typeface="Oswald"/>
                <a:sym typeface="Oswald"/>
              </a:rPr>
              <a:t>THE MATCH-UP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6162675"/>
            <a:ext cx="23217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Persona &amp; Emotional Driver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058400" y="6162675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Confidential and Proprietary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09600" y="2117526"/>
            <a:ext cx="5290661" cy="82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이 브랜드가 향한 사람: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70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‘참는 남자’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324600" y="3031926"/>
            <a:ext cx="5038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조직생활 속에서 눌린 공격성을 직접 표출하기보다, 누군가 대신 ‘끝내는 장면’을 보며 해소하고 싶다.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324600" y="3671887"/>
            <a:ext cx="5038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관전과 응원이 가능한 형식으로 강력한 대리 해소와 몰입의 카타르시스를 제공하는 것이 핵심 방향이다.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33450" y="3845123"/>
            <a:ext cx="44481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“월요일마다 쳐눌리는 내 인생,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누군가는 다 갚아주는 걸 보고 싶다”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610350" y="2603301"/>
            <a:ext cx="2400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대리 해소와 카타르시스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2857500"/>
            <a:ext cx="3505200" cy="1943100"/>
          </a:xfrm>
          <a:prstGeom prst="roundRect">
            <a:avLst>
              <a:gd fmla="val 1960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343400" y="2857500"/>
            <a:ext cx="3505200" cy="1943100"/>
          </a:xfrm>
          <a:prstGeom prst="roundRect">
            <a:avLst>
              <a:gd fmla="val 1960" name="adj"/>
            </a:avLst>
          </a:prstGeom>
          <a:solidFill>
            <a:srgbClr val="0D0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077200" y="2857500"/>
            <a:ext cx="3505200" cy="1943100"/>
          </a:xfrm>
          <a:prstGeom prst="roundRect">
            <a:avLst>
              <a:gd fmla="val 1960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09600" y="2857500"/>
            <a:ext cx="35052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4343400" y="2857500"/>
            <a:ext cx="35052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077200" y="2857500"/>
            <a:ext cx="35052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" y="552450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02. CONCEPT &amp; EXECUTION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668000" y="533400"/>
            <a:ext cx="100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Oswald"/>
                <a:ea typeface="Oswald"/>
                <a:cs typeface="Oswald"/>
                <a:sym typeface="Oswald"/>
              </a:rPr>
              <a:t>THE MATCH-UP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09600" y="9906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컨셉과 풀어낸 방식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09600" y="6162675"/>
            <a:ext cx="198834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Core Mechanics &amp; Media Flow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058400" y="6162675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Confidential and Proprietary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76300" y="316230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STEP 01. 갈등 포착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76300" y="3429000"/>
            <a:ext cx="39004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비프 (BEEF)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76300" y="3848100"/>
            <a:ext cx="3067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소셜 미디어에서 갈등이 발생하면, 말의 소모전으로 끝내지 않고 ‘실전 대결’로 전환할 갈등을 포착한다.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610100" y="316230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Noto Sans KR"/>
                <a:ea typeface="Noto Sans KR"/>
                <a:cs typeface="Noto Sans KR"/>
                <a:sym typeface="Noto Sans KR"/>
              </a:rPr>
              <a:t>STEP 02. 실전격투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610100" y="3429000"/>
            <a:ext cx="39004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대결 (MATCH)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610100" y="3848100"/>
            <a:ext cx="3067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8CBD0"/>
                </a:solidFill>
                <a:latin typeface="Noto Sans KR"/>
                <a:ea typeface="Noto Sans KR"/>
                <a:cs typeface="Noto Sans KR"/>
                <a:sym typeface="Noto Sans KR"/>
              </a:rPr>
              <a:t>말로 끝내지 못한 싸움, 링 위에서 답하는 인플루언서 격투 쇼. 링 위에서 확실한 결말을 만든다.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43900" y="316230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STEP 03. 미디어 확산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43900" y="3429000"/>
            <a:ext cx="384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확산 구조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343900" y="3848100"/>
            <a:ext cx="3067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비프 발생 → 링 위 대결 → 숏폼·캐러셀 확산. 숏폼은 임팩트 순간, 캐러셀은 갈등 맥락과 서사를 정리한다.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609600" y="6000452"/>
            <a:ext cx="10972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04135" y="2560439"/>
            <a:ext cx="5878264" cy="2667000"/>
          </a:xfrm>
          <a:prstGeom prst="roundRect">
            <a:avLst>
              <a:gd fmla="val 2857" name="adj"/>
            </a:avLst>
          </a:prstGeom>
          <a:solidFill>
            <a:srgbClr val="5A14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09600" y="6000452"/>
            <a:ext cx="10972800" cy="9525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09600" y="2450901"/>
            <a:ext cx="4789735" cy="16383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C8C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09600" y="4241601"/>
            <a:ext cx="4789735" cy="1095375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C8C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09625" y="2955726"/>
            <a:ext cx="457200" cy="457200"/>
          </a:xfrm>
          <a:prstGeom prst="roundRect">
            <a:avLst>
              <a:gd fmla="val 8333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381125" y="2955726"/>
            <a:ext cx="457200" cy="457200"/>
          </a:xfrm>
          <a:prstGeom prst="roundRect">
            <a:avLst>
              <a:gd fmla="val 8333" name="adj"/>
            </a:avLst>
          </a:prstGeom>
          <a:solidFill>
            <a:srgbClr val="0D0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952625" y="2955726"/>
            <a:ext cx="457200" cy="457200"/>
          </a:xfrm>
          <a:prstGeom prst="roundRect">
            <a:avLst>
              <a:gd fmla="val 8333" name="adj"/>
            </a:avLst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2524125" y="2955726"/>
            <a:ext cx="457200" cy="457200"/>
          </a:xfrm>
          <a:prstGeom prst="roundRect">
            <a:avLst>
              <a:gd fmla="val 8333" name="adj"/>
            </a:avLst>
          </a:prstGeom>
          <a:solidFill>
            <a:srgbClr val="A61B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018" y="315575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09600" y="552450"/>
            <a:ext cx="21312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03. VISUAL SIGNATURE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668000" y="533400"/>
            <a:ext cx="100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Oswald"/>
                <a:ea typeface="Oswald"/>
                <a:cs typeface="Oswald"/>
                <a:sym typeface="Oswald"/>
              </a:rPr>
              <a:t>THE MATCH-UP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09600" y="13492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한 컷에 각인되는 다크 격투 아레나 무드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09600" y="6162377"/>
            <a:ext cx="20240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Brand Identity &amp; Color System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0058400" y="6162377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Confidential and Proprietary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7074247" y="3765351"/>
            <a:ext cx="313789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DARK ARENA VISUAL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500068" y="4232076"/>
            <a:ext cx="428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8CBD0"/>
                </a:solidFill>
                <a:latin typeface="Noto Sans KR"/>
                <a:ea typeface="Noto Sans KR"/>
                <a:cs typeface="Noto Sans KR"/>
                <a:sym typeface="Noto Sans KR"/>
              </a:rPr>
              <a:t>메탈릭 엠블럼과 붉은 조명 연출로 소셜 미디어 피드에서 즉각적인 시선 압도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09625" y="2650926"/>
            <a:ext cx="54871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컬러 팔레트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09625" y="3527226"/>
            <a:ext cx="44849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버밀리언 레드(#C8102E), 서브 블랙(#0D0D0D), 포인트 레드(#E63946), 메인 딥 레드(#A61B29)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09625" y="4441626"/>
            <a:ext cx="54871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그래픽 모티프 &amp; 적용 지점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09625" y="4708326"/>
            <a:ext cx="448493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1" i="0" lang="en-US" sz="1125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그래픽 모티프:</a:t>
            </a:r>
            <a:r>
              <a:rPr b="0" i="0" lang="en-US" sz="1125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깨진 별 배경 + 격투 실루엣 및 메탈릭 텍스처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b="1" i="0" lang="en-US" sz="1125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적용 지점:</a:t>
            </a:r>
            <a:r>
              <a:rPr b="0" i="0" lang="en-US" sz="1125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링사이드 그래픽, 소셜 미디어 썸네일, 숏폼 인터페이스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848925" y="2930312"/>
            <a:ext cx="2600400" cy="1666800"/>
          </a:xfrm>
          <a:prstGeom prst="roundRect">
            <a:avLst>
              <a:gd fmla="val 4571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2299350" y="2930274"/>
            <a:ext cx="2600400" cy="1666800"/>
          </a:xfrm>
          <a:prstGeom prst="roundRect">
            <a:avLst>
              <a:gd fmla="val 4571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848925" y="4559087"/>
            <a:ext cx="26004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299350" y="4559050"/>
            <a:ext cx="26004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7525" y="32255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7950" y="322554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609600" y="552450"/>
            <a:ext cx="20597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 KR"/>
                <a:ea typeface="Noto Sans KR"/>
                <a:cs typeface="Noto Sans KR"/>
                <a:sym typeface="Noto Sans KR"/>
              </a:rPr>
              <a:t>04. FUTURE ROADMAP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668000" y="533400"/>
            <a:ext cx="100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Oswald"/>
                <a:ea typeface="Oswald"/>
                <a:cs typeface="Oswald"/>
                <a:sym typeface="Oswald"/>
              </a:rPr>
              <a:t>THE MATCH-UP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09600" y="9144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앞으로의 계획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61900" y="1401125"/>
            <a:ext cx="110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실전 숏폼·캐러셀 중심 미디어 프랜차이즈 확장</a:t>
            </a:r>
            <a:endParaRPr sz="1200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609600" y="6162675"/>
            <a:ext cx="1524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Franchise Growth Plan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0058400" y="6162675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Confidential and Proprietary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077525" y="3606587"/>
            <a:ext cx="281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시리즈화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7077525" y="3930437"/>
            <a:ext cx="22383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숏폼·캐러셀 중심 포맷 고정으로 반복 제작 가능한 프랜차이즈 구축.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2527950" y="3606550"/>
            <a:ext cx="281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0D0D"/>
                </a:solidFill>
                <a:latin typeface="Noto Sans KR"/>
                <a:ea typeface="Noto Sans KR"/>
                <a:cs typeface="Noto Sans KR"/>
                <a:sym typeface="Noto Sans KR"/>
              </a:rPr>
              <a:t>인지도 설계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2527950" y="3930400"/>
            <a:ext cx="22383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동일한 세계관과 시그니처 유지로 누적 브랜드 인지도 강화.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