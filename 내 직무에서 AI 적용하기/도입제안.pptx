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91758d8-9d36-b495-8f92-fa0490e3d582}">
          <p14:sldIdLst>
            <p14:sldId id="256"/>
          </p14:sldIdLst>
        </p14:section>
        <p14:section name="제안" id="{5203a550-b921-6331-1206-be62263e2370}">
          <p14:sldIdLst>
            <p14:sldId id="257"/>
          </p14:sldIdLst>
        </p14:section>
        <p14:section name="현황" id="{dd59efbf-7d71-1b0c-4d55-3802d286d5ca}">
          <p14:sldIdLst>
            <p14:sldId id="258"/>
            <p14:sldId id="259"/>
          </p14:sldIdLst>
        </p14:section>
        <p14:section name="근거" id="{979bf5d1-f2f2-72fa-0d2f-9aebe8c73ed3}">
          <p14:sldIdLst>
            <p14:sldId id="260"/>
          </p14:sldIdLst>
        </p14:section>
        <p14:section name="방안" id="{2f56c65a-aa3f-8f6c-0f32-65caad7c9e5d}">
          <p14:sldIdLst>
            <p14:sldId id="261"/>
            <p14:sldId id="262"/>
          </p14:sldIdLst>
        </p14:section>
        <p14:section name="효과" id="{5417eef0-f408-2f4a-c643-23c949dd5971}">
          <p14:sldIdLst>
            <p14:sldId id="263"/>
          </p14:sldIdLst>
        </p14:section>
        <p14:section name="실행" id="{ba4c9d8c-37de-fee8-d270-ed8c1440d78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근무 8시간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1D5D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1차 응대 5.2시간</c:v>
                </c:pt>
                <c:pt idx="1">
                  <c:v>기타 업무 2.8시간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목록
[1] 매일노동뉴스, 한국노총 중앙연구원 AICC 실태조사, 2026.1.22 https://www.labortoday.co.kr/news/articleView.html?idxno=232368
[2] 네이트 뉴스, 한국노총 AICC 시민 조사, 2026.1.22 https://m.news.nate.com/view/20260122n29326
[3] 이데일리(네이트), 삼성전자 AI 상담 기록 자동화, 2026.5.29 https://m.news.nate.com/view/20260529n27878
[4] 한국경제, LG전자 AI 원격진단, 2026.7.1 https://www.hankyung.com/article/2026070187531
[5] 서울경제, LG전자 AICC 고도화, 2026.5.27 https://www.sedaily.com/article/20048583
[6] 파이낸셜뉴스, KT AI 보이스봇 상담, 2026.9.15 https://www.fnnews.com/news/202609150911560786
[7] 한국경제, LG유플러스 AI 네이티브 컨택센터, 2026.9.30 https://www.hankyung.com/article/202609303575g
[8] Klarna 도입·방침 수정 경과(회사 발표 2024.2.27, Bloomberg 인터뷰 2025.5.8 인용) https://mirai360.ai/blog/problem-series-deploy-then-reverse/
[9] 채널톡 공지, ALF v2 업데이트(과금 변경) https://docs.channel.io/updates/ko/articles/%EC%A4%91%EC%9A%94-%EA%B3%B5%EC%A7%80-ALF-v2-%EC%97%85%EB%8D%B0%EC%9D%B4%ED%8A%B8-%EC%98%81%ED%96%A5-%EB%AF%B8%EB%A6%AC%EB%B3%B4%EA%B8%B0--a515d101
[10] Gartner 보도자료, 2024.7.9 https://www.gartner.com/en/newsroom/press-releases/2024-07-09-gartner-survey-finds-64-percent-of-customers-would-prefer-that-companies-didnt-use-ai-for-customer-service
[11] SK AX 인사이트, AI 기본법 시행 핵심 내용, 2026.3.6 https://www.skax.co.kr/insight/trend/3666
[12] ZDNet Korea, KTcs AI 보이스봇 처리 비중, 2026.6.30 https://zdnet.co.kr/view/?no=20260630110846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OO회사 운영팀 | AI 업무 자동화 아이디어 공모전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731520" y="15544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AI 업무 자동화 아이디어 공모전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고장 신고 1차 응대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AI 챗봇 도입 제안</a:t>
            </a:r>
            <a:endParaRPr lang="en-US" sz="4000" dirty="0"/>
          </a:p>
        </p:txBody>
      </p:sp>
      <p:sp>
        <p:nvSpPr>
          <p:cNvPr id="4" name="r2"/>
          <p:cNvSpPr/>
          <p:nvPr/>
        </p:nvSpPr>
        <p:spPr>
          <a:xfrm>
            <a:off x="731520" y="3886200"/>
            <a:ext cx="8229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3"/>
          <p:cNvSpPr txBox="1"/>
          <p:nvPr/>
        </p:nvSpPr>
        <p:spPr>
          <a:xfrm>
            <a:off x="73152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AI</a:t>
            </a:r>
            <a:endParaRPr lang="en-US" sz="2200" dirty="0"/>
          </a:p>
        </p:txBody>
      </p:sp>
      <p:sp>
        <p:nvSpPr>
          <p:cNvPr id="6" name="r4"/>
          <p:cNvSpPr/>
          <p:nvPr/>
        </p:nvSpPr>
        <p:spPr>
          <a:xfrm>
            <a:off x="1691640" y="3886200"/>
            <a:ext cx="82296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5"/>
          <p:cNvSpPr txBox="1"/>
          <p:nvPr/>
        </p:nvSpPr>
        <p:spPr>
          <a:xfrm>
            <a:off x="1691640" y="3886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사람</a:t>
            </a:r>
            <a:endParaRPr lang="en-US" sz="1800" dirty="0"/>
          </a:p>
        </p:txBody>
      </p:sp>
      <p:sp>
        <p:nvSpPr>
          <p:cNvPr id="8" name="t6"/>
          <p:cNvSpPr txBox="1"/>
          <p:nvPr/>
        </p:nvSpPr>
        <p:spPr>
          <a:xfrm>
            <a:off x="2743200" y="3886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반복 안내·기록은 AI가, 판단·응대는 사람이</a:t>
            </a:r>
            <a:endParaRPr lang="en-US" sz="1800" dirty="0"/>
          </a:p>
        </p:txBody>
      </p:sp>
      <p:sp>
        <p:nvSpPr>
          <p:cNvPr id="9" name="t7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운영팀  |  2026.10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제안 요약</a:t>
            </a:r>
            <a:endParaRPr lang="en-US" sz="3000" dirty="0"/>
          </a:p>
        </p:txBody>
      </p:sp>
      <p:sp>
        <p:nvSpPr>
          <p:cNvPr id="3" name="r8"/>
          <p:cNvSpPr/>
          <p:nvPr/>
        </p:nvSpPr>
        <p:spPr>
          <a:xfrm>
            <a:off x="548640" y="118872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9"/>
          <p:cNvSpPr txBox="1"/>
          <p:nvPr/>
        </p:nvSpPr>
        <p:spPr>
          <a:xfrm>
            <a:off x="822960" y="11887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상담원 대체가 아니라, </a:t>
            </a:r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반복 안내·기록 자동화 + 사람 이관 보장</a:t>
            </a:r>
            <a:endParaRPr lang="en-US" sz="2200" dirty="0"/>
          </a:p>
        </p:txBody>
      </p:sp>
      <p:sp>
        <p:nvSpPr>
          <p:cNvPr id="5" name="r10"/>
          <p:cNvSpPr/>
          <p:nvPr/>
        </p:nvSpPr>
        <p:spPr>
          <a:xfrm>
            <a:off x="548640" y="2331720"/>
            <a:ext cx="1106424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11"/>
          <p:cNvSpPr txBox="1"/>
          <p:nvPr/>
        </p:nvSpPr>
        <p:spPr>
          <a:xfrm>
            <a:off x="777240" y="2331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What</a:t>
            </a:r>
            <a:endParaRPr lang="en-US" sz="1600" dirty="0"/>
          </a:p>
        </p:txBody>
      </p:sp>
      <p:sp>
        <p:nvSpPr>
          <p:cNvPr id="7" name="t12"/>
          <p:cNvSpPr txBox="1"/>
          <p:nvPr/>
        </p:nvSpPr>
        <p:spPr>
          <a:xfrm>
            <a:off x="2560320" y="233172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고장 신고 1차 응대를 AI 챗봇 + 자동 요약·티켓으로 처리</a:t>
            </a:r>
            <a:endParaRPr lang="en-US" sz="1700" dirty="0"/>
          </a:p>
        </p:txBody>
      </p:sp>
      <p:sp>
        <p:nvSpPr>
          <p:cNvPr id="8" name="r13"/>
          <p:cNvSpPr/>
          <p:nvPr/>
        </p:nvSpPr>
        <p:spPr>
          <a:xfrm>
            <a:off x="548640" y="3063240"/>
            <a:ext cx="11064240" cy="594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14"/>
          <p:cNvSpPr txBox="1"/>
          <p:nvPr/>
        </p:nvSpPr>
        <p:spPr>
          <a:xfrm>
            <a:off x="777240" y="3063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</a:t>
            </a:r>
            <a:endParaRPr lang="en-US" sz="1600" dirty="0"/>
          </a:p>
        </p:txBody>
      </p:sp>
      <p:sp>
        <p:nvSpPr>
          <p:cNvPr id="10" name="t15"/>
          <p:cNvSpPr txBox="1"/>
          <p:nvPr/>
        </p:nvSpPr>
        <p:spPr>
          <a:xfrm>
            <a:off x="2560320" y="306324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1차 응대가 업무시간의 65%, 그중 45%가 수기 입력 [가정]</a:t>
            </a:r>
            <a:endParaRPr lang="en-US" sz="1700" dirty="0"/>
          </a:p>
        </p:txBody>
      </p:sp>
      <p:sp>
        <p:nvSpPr>
          <p:cNvPr id="11" name="r16"/>
          <p:cNvSpPr/>
          <p:nvPr/>
        </p:nvSpPr>
        <p:spPr>
          <a:xfrm>
            <a:off x="548640" y="3794760"/>
            <a:ext cx="1106424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17"/>
          <p:cNvSpPr txBox="1"/>
          <p:nvPr/>
        </p:nvSpPr>
        <p:spPr>
          <a:xfrm>
            <a:off x="777240" y="3794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How</a:t>
            </a:r>
            <a:endParaRPr lang="en-US" sz="1600" dirty="0"/>
          </a:p>
        </p:txBody>
      </p:sp>
      <p:sp>
        <p:nvSpPr>
          <p:cNvPr id="13" name="t18"/>
          <p:cNvSpPr txBox="1"/>
          <p:nvPr/>
        </p:nvSpPr>
        <p:spPr>
          <a:xfrm>
            <a:off x="2560320" y="379476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2주 측정 → 3개월 파일럿(채널톡 ALF) → 확대</a:t>
            </a:r>
            <a:endParaRPr lang="en-US" sz="1700" dirty="0"/>
          </a:p>
        </p:txBody>
      </p:sp>
      <p:sp>
        <p:nvSpPr>
          <p:cNvPr id="14" name="r19"/>
          <p:cNvSpPr/>
          <p:nvPr/>
        </p:nvSpPr>
        <p:spPr>
          <a:xfrm>
            <a:off x="548640" y="4526280"/>
            <a:ext cx="11064240" cy="594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20"/>
          <p:cNvSpPr txBox="1"/>
          <p:nvPr/>
        </p:nvSpPr>
        <p:spPr>
          <a:xfrm>
            <a:off x="777240" y="4526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기대효과</a:t>
            </a:r>
            <a:endParaRPr lang="en-US" sz="1600" dirty="0"/>
          </a:p>
        </p:txBody>
      </p:sp>
      <p:sp>
        <p:nvSpPr>
          <p:cNvPr id="16" name="t21"/>
          <p:cNvSpPr txBox="1"/>
          <p:nvPr/>
        </p:nvSpPr>
        <p:spPr>
          <a:xfrm>
            <a:off x="2560320" y="452628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1인 하루 최대 약 2.9시간 확보(3단계) · 연간 약 2,300만 원 절감 [가정]</a:t>
            </a:r>
            <a:endParaRPr lang="en-US" sz="1700" dirty="0"/>
          </a:p>
        </p:txBody>
      </p:sp>
      <p:sp>
        <p:nvSpPr>
          <p:cNvPr id="17" name="r22"/>
          <p:cNvSpPr/>
          <p:nvPr/>
        </p:nvSpPr>
        <p:spPr>
          <a:xfrm>
            <a:off x="548640" y="5257800"/>
            <a:ext cx="11064240" cy="594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23"/>
          <p:cNvSpPr txBox="1"/>
          <p:nvPr/>
        </p:nvSpPr>
        <p:spPr>
          <a:xfrm>
            <a:off x="777240" y="5257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요청사항</a:t>
            </a:r>
            <a:endParaRPr lang="en-US" sz="1600" dirty="0"/>
          </a:p>
        </p:txBody>
      </p:sp>
      <p:sp>
        <p:nvSpPr>
          <p:cNvPr id="19" name="t24"/>
          <p:cNvSpPr txBox="1"/>
          <p:nvPr/>
        </p:nvSpPr>
        <p:spPr>
          <a:xfrm>
            <a:off x="2560320" y="5257800"/>
            <a:ext cx="8869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파일럿 승인 · 예산 월 약 50만 원 [가정]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현재 업무 흐름: 모든 단계를 담당자가 전화로 처리</a:t>
            </a:r>
            <a:endParaRPr lang="en-US" sz="3000" dirty="0"/>
          </a:p>
        </p:txBody>
      </p:sp>
      <p:sp>
        <p:nvSpPr>
          <p:cNvPr id="3" name="r25"/>
          <p:cNvSpPr/>
          <p:nvPr/>
        </p:nvSpPr>
        <p:spPr>
          <a:xfrm>
            <a:off x="548640" y="1600200"/>
            <a:ext cx="160020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26"/>
          <p:cNvSpPr txBox="1"/>
          <p:nvPr/>
        </p:nvSpPr>
        <p:spPr>
          <a:xfrm>
            <a:off x="658368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27"/>
          <p:cNvSpPr txBox="1"/>
          <p:nvPr/>
        </p:nvSpPr>
        <p:spPr>
          <a:xfrm>
            <a:off x="548640" y="1874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전화 접수</a:t>
            </a:r>
            <a:endParaRPr lang="en-US" sz="1600" dirty="0"/>
          </a:p>
        </p:txBody>
      </p:sp>
      <p:sp>
        <p:nvSpPr>
          <p:cNvPr id="6" name="t28"/>
          <p:cNvSpPr txBox="1"/>
          <p:nvPr/>
        </p:nvSpPr>
        <p:spPr>
          <a:xfrm>
            <a:off x="54864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2분</a:t>
            </a:r>
            <a:endParaRPr lang="en-US" sz="1400" dirty="0"/>
          </a:p>
        </p:txBody>
      </p:sp>
      <p:sp>
        <p:nvSpPr>
          <p:cNvPr id="7" name="a29"/>
          <p:cNvSpPr/>
          <p:nvPr/>
        </p:nvSpPr>
        <p:spPr>
          <a:xfrm>
            <a:off x="2185416" y="2171700"/>
            <a:ext cx="219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r30"/>
          <p:cNvSpPr/>
          <p:nvPr/>
        </p:nvSpPr>
        <p:spPr>
          <a:xfrm>
            <a:off x="2441448" y="1600200"/>
            <a:ext cx="1600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31"/>
          <p:cNvSpPr txBox="1"/>
          <p:nvPr/>
        </p:nvSpPr>
        <p:spPr>
          <a:xfrm>
            <a:off x="2551176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32"/>
          <p:cNvSpPr txBox="1"/>
          <p:nvPr/>
        </p:nvSpPr>
        <p:spPr>
          <a:xfrm>
            <a:off x="2441448" y="1874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증상 분류</a:t>
            </a:r>
            <a:endParaRPr lang="en-US" sz="1600" dirty="0"/>
          </a:p>
        </p:txBody>
      </p:sp>
      <p:sp>
        <p:nvSpPr>
          <p:cNvPr id="11" name="t33"/>
          <p:cNvSpPr txBox="1"/>
          <p:nvPr/>
        </p:nvSpPr>
        <p:spPr>
          <a:xfrm>
            <a:off x="2441448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1.5분</a:t>
            </a:r>
            <a:endParaRPr lang="en-US" sz="1400" dirty="0"/>
          </a:p>
        </p:txBody>
      </p:sp>
      <p:sp>
        <p:nvSpPr>
          <p:cNvPr id="12" name="a34"/>
          <p:cNvSpPr/>
          <p:nvPr/>
        </p:nvSpPr>
        <p:spPr>
          <a:xfrm>
            <a:off x="4078224" y="2171700"/>
            <a:ext cx="219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r35"/>
          <p:cNvSpPr/>
          <p:nvPr/>
        </p:nvSpPr>
        <p:spPr>
          <a:xfrm>
            <a:off x="4334256" y="1600200"/>
            <a:ext cx="160020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36"/>
          <p:cNvSpPr txBox="1"/>
          <p:nvPr/>
        </p:nvSpPr>
        <p:spPr>
          <a:xfrm>
            <a:off x="4443984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37"/>
          <p:cNvSpPr txBox="1"/>
          <p:nvPr/>
        </p:nvSpPr>
        <p:spPr>
          <a:xfrm>
            <a:off x="4334256" y="1874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원격 조치 안내</a:t>
            </a:r>
            <a:endParaRPr lang="en-US" sz="1600" dirty="0"/>
          </a:p>
        </p:txBody>
      </p:sp>
      <p:sp>
        <p:nvSpPr>
          <p:cNvPr id="16" name="t38"/>
          <p:cNvSpPr txBox="1"/>
          <p:nvPr/>
        </p:nvSpPr>
        <p:spPr>
          <a:xfrm>
            <a:off x="4334256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3분</a:t>
            </a:r>
            <a:endParaRPr lang="en-US" sz="1400" dirty="0"/>
          </a:p>
        </p:txBody>
      </p:sp>
      <p:sp>
        <p:nvSpPr>
          <p:cNvPr id="17" name="a39"/>
          <p:cNvSpPr/>
          <p:nvPr/>
        </p:nvSpPr>
        <p:spPr>
          <a:xfrm>
            <a:off x="5971032" y="2171700"/>
            <a:ext cx="219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r40"/>
          <p:cNvSpPr/>
          <p:nvPr/>
        </p:nvSpPr>
        <p:spPr>
          <a:xfrm>
            <a:off x="6227064" y="1600200"/>
            <a:ext cx="1600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41"/>
          <p:cNvSpPr txBox="1"/>
          <p:nvPr/>
        </p:nvSpPr>
        <p:spPr>
          <a:xfrm>
            <a:off x="6336792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42"/>
          <p:cNvSpPr txBox="1"/>
          <p:nvPr/>
        </p:nvSpPr>
        <p:spPr>
          <a:xfrm>
            <a:off x="6227064" y="1874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방문 판단</a:t>
            </a:r>
            <a:endParaRPr lang="en-US" sz="1600" dirty="0"/>
          </a:p>
        </p:txBody>
      </p:sp>
      <p:sp>
        <p:nvSpPr>
          <p:cNvPr id="21" name="t43"/>
          <p:cNvSpPr txBox="1"/>
          <p:nvPr/>
        </p:nvSpPr>
        <p:spPr>
          <a:xfrm>
            <a:off x="6227064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0.5분</a:t>
            </a:r>
            <a:endParaRPr lang="en-US" sz="1400" dirty="0"/>
          </a:p>
        </p:txBody>
      </p:sp>
      <p:sp>
        <p:nvSpPr>
          <p:cNvPr id="22" name="a44"/>
          <p:cNvSpPr/>
          <p:nvPr/>
        </p:nvSpPr>
        <p:spPr>
          <a:xfrm>
            <a:off x="7863840" y="2171700"/>
            <a:ext cx="219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r45"/>
          <p:cNvSpPr/>
          <p:nvPr/>
        </p:nvSpPr>
        <p:spPr>
          <a:xfrm>
            <a:off x="8119872" y="1600200"/>
            <a:ext cx="16002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46"/>
          <p:cNvSpPr txBox="1"/>
          <p:nvPr/>
        </p:nvSpPr>
        <p:spPr>
          <a:xfrm>
            <a:off x="8229600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47"/>
          <p:cNvSpPr txBox="1"/>
          <p:nvPr/>
        </p:nvSpPr>
        <p:spPr>
          <a:xfrm>
            <a:off x="8119872" y="1874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예약·배정</a:t>
            </a:r>
            <a:endParaRPr lang="en-US" sz="1600" dirty="0"/>
          </a:p>
        </p:txBody>
      </p:sp>
      <p:sp>
        <p:nvSpPr>
          <p:cNvPr id="26" name="t48"/>
          <p:cNvSpPr txBox="1"/>
          <p:nvPr/>
        </p:nvSpPr>
        <p:spPr>
          <a:xfrm>
            <a:off x="8119872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4분 (방문 건)</a:t>
            </a:r>
            <a:endParaRPr lang="en-US" sz="1400" dirty="0"/>
          </a:p>
        </p:txBody>
      </p:sp>
      <p:sp>
        <p:nvSpPr>
          <p:cNvPr id="27" name="a49"/>
          <p:cNvSpPr/>
          <p:nvPr/>
        </p:nvSpPr>
        <p:spPr>
          <a:xfrm>
            <a:off x="9756648" y="2171700"/>
            <a:ext cx="21945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8" name="r50"/>
          <p:cNvSpPr/>
          <p:nvPr/>
        </p:nvSpPr>
        <p:spPr>
          <a:xfrm>
            <a:off x="10012680" y="1600200"/>
            <a:ext cx="160020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51"/>
          <p:cNvSpPr txBox="1"/>
          <p:nvPr/>
        </p:nvSpPr>
        <p:spPr>
          <a:xfrm>
            <a:off x="10122408" y="1664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52"/>
          <p:cNvSpPr txBox="1"/>
          <p:nvPr/>
        </p:nvSpPr>
        <p:spPr>
          <a:xfrm>
            <a:off x="10012680" y="1874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수기 입력</a:t>
            </a:r>
            <a:endParaRPr lang="en-US" sz="1600" dirty="0"/>
          </a:p>
        </p:txBody>
      </p:sp>
      <p:sp>
        <p:nvSpPr>
          <p:cNvPr id="31" name="t53"/>
          <p:cNvSpPr txBox="1"/>
          <p:nvPr/>
        </p:nvSpPr>
        <p:spPr>
          <a:xfrm>
            <a:off x="10012680" y="22860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5.5분</a:t>
            </a:r>
            <a:endParaRPr lang="en-US" sz="1400" dirty="0"/>
          </a:p>
        </p:txBody>
      </p:sp>
      <p:sp>
        <p:nvSpPr>
          <p:cNvPr id="32" name="t54"/>
          <p:cNvSpPr txBox="1"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건당 12.5분 [가정]  ·  색 칠한 단계 = 병목</a:t>
            </a:r>
            <a:endParaRPr lang="en-US" sz="1200" dirty="0"/>
          </a:p>
        </p:txBody>
      </p:sp>
      <p:sp>
        <p:nvSpPr>
          <p:cNvPr id="33" name="r55"/>
          <p:cNvSpPr/>
          <p:nvPr/>
        </p:nvSpPr>
        <p:spPr>
          <a:xfrm>
            <a:off x="548640" y="352044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56"/>
          <p:cNvSpPr txBox="1"/>
          <p:nvPr/>
        </p:nvSpPr>
        <p:spPr>
          <a:xfrm>
            <a:off x="82296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병목 1  반복 응대</a:t>
            </a:r>
            <a:endParaRPr lang="en-US" sz="1600" dirty="0"/>
          </a:p>
        </p:txBody>
      </p:sp>
      <p:sp>
        <p:nvSpPr>
          <p:cNvPr id="35" name="t57"/>
          <p:cNvSpPr txBox="1"/>
          <p:nvPr/>
        </p:nvSpPr>
        <p:spPr>
          <a:xfrm>
            <a:off x="822960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매번 처음부터</a:t>
            </a:r>
            <a:endParaRPr lang="en-US" sz="3200" dirty="0"/>
          </a:p>
        </p:txBody>
      </p:sp>
      <p:sp>
        <p:nvSpPr>
          <p:cNvPr id="36" name="t58"/>
          <p:cNvSpPr txBox="1"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같은 증상도 처음부터 다시 안내</a:t>
            </a:r>
            <a:endParaRPr lang="en-US" sz="1400" dirty="0"/>
          </a:p>
        </p:txBody>
      </p:sp>
      <p:sp>
        <p:nvSpPr>
          <p:cNvPr id="37" name="r59"/>
          <p:cNvSpPr/>
          <p:nvPr/>
        </p:nvSpPr>
        <p:spPr>
          <a:xfrm>
            <a:off x="4325112" y="352044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60"/>
          <p:cNvSpPr txBox="1"/>
          <p:nvPr/>
        </p:nvSpPr>
        <p:spPr>
          <a:xfrm>
            <a:off x="4599432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병목 2  수기 입력</a:t>
            </a:r>
            <a:endParaRPr lang="en-US" sz="1600" dirty="0"/>
          </a:p>
        </p:txBody>
      </p:sp>
      <p:sp>
        <p:nvSpPr>
          <p:cNvPr id="39" name="t61"/>
          <p:cNvSpPr txBox="1"/>
          <p:nvPr/>
        </p:nvSpPr>
        <p:spPr>
          <a:xfrm>
            <a:off x="4599432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45%</a:t>
            </a:r>
            <a:endParaRPr lang="en-US" sz="4400" dirty="0"/>
          </a:p>
        </p:txBody>
      </p:sp>
      <p:sp>
        <p:nvSpPr>
          <p:cNvPr id="40" name="t62"/>
          <p:cNvSpPr txBox="1"/>
          <p:nvPr/>
        </p:nvSpPr>
        <p:spPr>
          <a:xfrm>
            <a:off x="4599432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건당 응대 시간 중 기록 비중</a:t>
            </a:r>
            <a:endParaRPr lang="en-US" sz="1400" dirty="0"/>
          </a:p>
        </p:txBody>
      </p:sp>
      <p:sp>
        <p:nvSpPr>
          <p:cNvPr id="41" name="r63"/>
          <p:cNvSpPr/>
          <p:nvPr/>
        </p:nvSpPr>
        <p:spPr>
          <a:xfrm>
            <a:off x="8101584" y="352044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64"/>
          <p:cNvSpPr txBox="1"/>
          <p:nvPr/>
        </p:nvSpPr>
        <p:spPr>
          <a:xfrm>
            <a:off x="8375904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병목 3  업무 외 접수</a:t>
            </a:r>
            <a:endParaRPr lang="en-US" sz="1600" dirty="0"/>
          </a:p>
        </p:txBody>
      </p:sp>
      <p:sp>
        <p:nvSpPr>
          <p:cNvPr id="43" name="t65"/>
          <p:cNvSpPr txBox="1"/>
          <p:nvPr/>
        </p:nvSpPr>
        <p:spPr>
          <a:xfrm>
            <a:off x="8375904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불가</a:t>
            </a:r>
            <a:endParaRPr lang="en-US" sz="4400" dirty="0"/>
          </a:p>
        </p:txBody>
      </p:sp>
      <p:sp>
        <p:nvSpPr>
          <p:cNvPr id="44" name="t66"/>
          <p:cNvSpPr txBox="1"/>
          <p:nvPr/>
        </p:nvSpPr>
        <p:spPr>
          <a:xfrm>
            <a:off x="8375904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업무시간 전화로만 접수</a:t>
            </a:r>
            <a:endParaRPr lang="en-US" sz="1400" dirty="0"/>
          </a:p>
        </p:txBody>
      </p:sp>
      <p:sp>
        <p:nvSpPr>
          <p:cNvPr id="45" name="t67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단계별 시간은 [가정]. 통화·후처리 시간은 한국노총 중앙연구원 실태조사의 AI 도입 전 수치를 준용 [1]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업무 비중: 담당자 시간의 65%가 1차 응대</a:t>
            </a:r>
            <a:endParaRPr lang="en-US" sz="3000" dirty="0"/>
          </a:p>
        </p:txBody>
      </p:sp>
      <p:graphicFrame>
        <p:nvGraphicFramePr>
          <p:cNvPr id="3" name="donut" descr=""/>
          <p:cNvGraphicFramePr/>
          <p:nvPr/>
        </p:nvGraphicFramePr>
        <p:xfrm>
          <a:off x="548640" y="1234440"/>
          <a:ext cx="4754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68"/>
          <p:cNvSpPr txBox="1"/>
          <p:nvPr/>
        </p:nvSpPr>
        <p:spPr>
          <a:xfrm>
            <a:off x="1783080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65%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근무 8시간 중</a:t>
            </a:r>
            <a:endParaRPr lang="en-US" sz="1400" dirty="0"/>
          </a:p>
        </p:txBody>
      </p:sp>
      <p:sp>
        <p:nvSpPr>
          <p:cNvPr id="5" name="r69"/>
          <p:cNvSpPr/>
          <p:nvPr/>
        </p:nvSpPr>
        <p:spPr>
          <a:xfrm>
            <a:off x="5760720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70"/>
          <p:cNvSpPr txBox="1"/>
          <p:nvPr/>
        </p:nvSpPr>
        <p:spPr>
          <a:xfrm>
            <a:off x="5760720" y="1600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25건</a:t>
            </a:r>
            <a:endParaRPr lang="en-US" sz="2800" dirty="0"/>
          </a:p>
        </p:txBody>
      </p:sp>
      <p:sp>
        <p:nvSpPr>
          <p:cNvPr id="7" name="t71"/>
          <p:cNvSpPr txBox="1"/>
          <p:nvPr/>
        </p:nvSpPr>
        <p:spPr>
          <a:xfrm>
            <a:off x="5760720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하루 1차 응대</a:t>
            </a:r>
            <a:endParaRPr lang="en-US" sz="1400" dirty="0"/>
          </a:p>
        </p:txBody>
      </p:sp>
      <p:sp>
        <p:nvSpPr>
          <p:cNvPr id="8" name="t72"/>
          <p:cNvSpPr txBox="1"/>
          <p:nvPr/>
        </p:nvSpPr>
        <p:spPr>
          <a:xfrm>
            <a:off x="7470648" y="14630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×</a:t>
            </a:r>
            <a:endParaRPr lang="en-US" sz="2800" dirty="0"/>
          </a:p>
        </p:txBody>
      </p:sp>
      <p:sp>
        <p:nvSpPr>
          <p:cNvPr id="9" name="r73"/>
          <p:cNvSpPr/>
          <p:nvPr/>
        </p:nvSpPr>
        <p:spPr>
          <a:xfrm>
            <a:off x="7991856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74"/>
          <p:cNvSpPr txBox="1"/>
          <p:nvPr/>
        </p:nvSpPr>
        <p:spPr>
          <a:xfrm>
            <a:off x="7991856" y="1600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12.5분</a:t>
            </a:r>
            <a:endParaRPr lang="en-US" sz="2800" dirty="0"/>
          </a:p>
        </p:txBody>
      </p:sp>
      <p:sp>
        <p:nvSpPr>
          <p:cNvPr id="11" name="t75"/>
          <p:cNvSpPr txBox="1"/>
          <p:nvPr/>
        </p:nvSpPr>
        <p:spPr>
          <a:xfrm>
            <a:off x="7991856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건당 응대</a:t>
            </a:r>
            <a:endParaRPr lang="en-US" sz="1400" dirty="0"/>
          </a:p>
        </p:txBody>
      </p:sp>
      <p:sp>
        <p:nvSpPr>
          <p:cNvPr id="12" name="t76"/>
          <p:cNvSpPr txBox="1"/>
          <p:nvPr/>
        </p:nvSpPr>
        <p:spPr>
          <a:xfrm>
            <a:off x="9701784" y="14630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=</a:t>
            </a:r>
            <a:endParaRPr lang="en-US" sz="2800" dirty="0"/>
          </a:p>
        </p:txBody>
      </p:sp>
      <p:sp>
        <p:nvSpPr>
          <p:cNvPr id="13" name="r77"/>
          <p:cNvSpPr/>
          <p:nvPr/>
        </p:nvSpPr>
        <p:spPr>
          <a:xfrm>
            <a:off x="10222992" y="1463040"/>
            <a:ext cx="16002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78"/>
          <p:cNvSpPr txBox="1"/>
          <p:nvPr/>
        </p:nvSpPr>
        <p:spPr>
          <a:xfrm>
            <a:off x="10222992" y="16002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5.2시간</a:t>
            </a:r>
            <a:endParaRPr lang="en-US" sz="2800" dirty="0"/>
          </a:p>
        </p:txBody>
      </p:sp>
      <p:sp>
        <p:nvSpPr>
          <p:cNvPr id="15" name="t79"/>
          <p:cNvSpPr txBox="1"/>
          <p:nvPr/>
        </p:nvSpPr>
        <p:spPr>
          <a:xfrm>
            <a:off x="10222992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하루 소요</a:t>
            </a:r>
            <a:endParaRPr lang="en-US" sz="1400" dirty="0"/>
          </a:p>
        </p:txBody>
      </p:sp>
      <p:sp>
        <p:nvSpPr>
          <p:cNvPr id="16" name="t80"/>
          <p:cNvSpPr txBox="1"/>
          <p:nvPr/>
        </p:nvSpPr>
        <p:spPr>
          <a:xfrm>
            <a:off x="576072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건당 12.5분의 구성</a:t>
            </a:r>
            <a:endParaRPr lang="en-US" sz="1600" dirty="0"/>
          </a:p>
        </p:txBody>
      </p:sp>
      <p:sp>
        <p:nvSpPr>
          <p:cNvPr id="17" name="r81"/>
          <p:cNvSpPr/>
          <p:nvPr/>
        </p:nvSpPr>
        <p:spPr>
          <a:xfrm>
            <a:off x="5760720" y="3749040"/>
            <a:ext cx="327721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82"/>
          <p:cNvSpPr txBox="1"/>
          <p:nvPr/>
        </p:nvSpPr>
        <p:spPr>
          <a:xfrm>
            <a:off x="5760720" y="3749040"/>
            <a:ext cx="32772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통화 7분</a:t>
            </a:r>
            <a:endParaRPr lang="en-US" sz="1600" dirty="0"/>
          </a:p>
        </p:txBody>
      </p:sp>
      <p:sp>
        <p:nvSpPr>
          <p:cNvPr id="19" name="r83"/>
          <p:cNvSpPr/>
          <p:nvPr/>
        </p:nvSpPr>
        <p:spPr>
          <a:xfrm>
            <a:off x="9037930" y="3749040"/>
            <a:ext cx="257495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84"/>
          <p:cNvSpPr txBox="1"/>
          <p:nvPr/>
        </p:nvSpPr>
        <p:spPr>
          <a:xfrm>
            <a:off x="9037930" y="3749040"/>
            <a:ext cx="25749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수기 입력 5.5분</a:t>
            </a:r>
            <a:endParaRPr lang="en-US" sz="1600" dirty="0"/>
          </a:p>
        </p:txBody>
      </p:sp>
      <p:sp>
        <p:nvSpPr>
          <p:cNvPr id="21" name="t85"/>
          <p:cNvSpPr txBox="1"/>
          <p:nvPr/>
        </p:nvSpPr>
        <p:spPr>
          <a:xfrm>
            <a:off x="5760720" y="47091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45%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응대 시간의 절반 가까이가 기록 작업</a:t>
            </a:r>
            <a:endParaRPr lang="en-US" sz="1400" dirty="0"/>
          </a:p>
        </p:txBody>
      </p:sp>
      <p:sp>
        <p:nvSpPr>
          <p:cNvPr id="22" name="r86"/>
          <p:cNvSpPr/>
          <p:nvPr/>
        </p:nvSpPr>
        <p:spPr>
          <a:xfrm>
            <a:off x="10744200" y="548640"/>
            <a:ext cx="868680" cy="292608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87"/>
          <p:cNvSpPr txBox="1"/>
          <p:nvPr/>
        </p:nvSpPr>
        <p:spPr>
          <a:xfrm>
            <a:off x="10744200" y="54864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[가정]</a:t>
            </a:r>
            <a:endParaRPr lang="en-US" sz="1000" dirty="0"/>
          </a:p>
        </p:txBody>
      </p:sp>
      <p:sp>
        <p:nvSpPr>
          <p:cNvPr id="24" name="t88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모든 수치는 [가정]. 통화 6.95분·후처리 5.59분(AI 도입 전, 168명 조사) 준용 [1]. 사전 측정 2주로 실측값 대체 예정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타사 사례: 반복 안내·기록 자동화에서 성과 확인</a:t>
            </a:r>
            <a:endParaRPr lang="en-US" sz="3000" dirty="0"/>
          </a:p>
        </p:txBody>
      </p:sp>
      <p:graphicFrame>
        <p:nvGraphicFramePr>
          <p:cNvPr id="6" name="cas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383280"/>
                <a:gridCol w="420624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기업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적용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핵심 성과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출처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삼성전자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상담 기록 요약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기록 5~10분 → 10초 내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[3] 2026.5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LG전자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원격진단(씽큐 연동)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불필요 출장 32~37% 감소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[4][5] 2026.5~7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KT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보이스봇 장애 원격 조치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상담사 연결 없이 완결 약 75%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[6] 2026.9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LG유플러스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AI 컨택센터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상담사 연결 대기 47초 → 5초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3"/>
                          </a:solidFill>
                        </a:rPr>
                        <a:t>[7] 2026.9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89"/>
          <p:cNvSpPr/>
          <p:nvPr/>
        </p:nvSpPr>
        <p:spPr>
          <a:xfrm>
            <a:off x="548640" y="434340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90"/>
          <p:cNvSpPr txBox="1"/>
          <p:nvPr/>
        </p:nvSpPr>
        <p:spPr>
          <a:xfrm>
            <a:off x="82296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교훈 1</a:t>
            </a:r>
            <a:endParaRPr lang="en-US" sz="1400" dirty="0"/>
          </a:p>
        </p:txBody>
      </p:sp>
      <p:sp>
        <p:nvSpPr>
          <p:cNvPr id="6" name="t91"/>
          <p:cNvSpPr txBox="1"/>
          <p:nvPr/>
        </p:nvSpPr>
        <p:spPr>
          <a:xfrm>
            <a:off x="822960" y="4800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성과 사례는 연결 제품의 원격 데이터 기반 → 우리는 증상 문답형 셀프 진단 + 접수 자동화부터</a:t>
            </a:r>
            <a:endParaRPr lang="en-US" sz="1600" dirty="0"/>
          </a:p>
        </p:txBody>
      </p:sp>
      <p:sp>
        <p:nvSpPr>
          <p:cNvPr id="7" name="r92"/>
          <p:cNvSpPr/>
          <p:nvPr/>
        </p:nvSpPr>
        <p:spPr>
          <a:xfrm>
            <a:off x="6172200" y="434340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93"/>
          <p:cNvSpPr txBox="1"/>
          <p:nvPr/>
        </p:nvSpPr>
        <p:spPr>
          <a:xfrm>
            <a:off x="644652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교훈 2</a:t>
            </a:r>
            <a:endParaRPr lang="en-US" sz="1400" dirty="0"/>
          </a:p>
        </p:txBody>
      </p:sp>
      <p:sp>
        <p:nvSpPr>
          <p:cNvPr id="9" name="t94"/>
          <p:cNvSpPr txBox="1"/>
          <p:nvPr/>
        </p:nvSpPr>
        <p:spPr>
          <a:xfrm>
            <a:off x="6446520" y="4800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Klarna: 대체율 집중 → 품질 저하로 사람 상담원 채용 재개 → 처음부터 사람 이관 보장</a:t>
            </a:r>
            <a:endParaRPr lang="en-US" sz="1600" dirty="0"/>
          </a:p>
        </p:txBody>
      </p:sp>
      <p:sp>
        <p:nvSpPr>
          <p:cNvPr id="10" name="t95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[3] 이데일리 2026.5.29  [4] 한국경제 2026.7.1  [5] 서울경제 2026.5.27  [6] 파이낸셜뉴스 2026.9.15  [7] 한국경제 2026.9.30  [8] Klarna 2024.2.27 / Bloomberg 2025.5.8 · 회사 발표 기준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제안 흐름: AI가 1차 응대, 사람은 판단과 확정</a:t>
            </a:r>
            <a:endParaRPr lang="en-US" sz="3000" dirty="0"/>
          </a:p>
        </p:txBody>
      </p:sp>
      <p:sp>
        <p:nvSpPr>
          <p:cNvPr id="3" name="r96"/>
          <p:cNvSpPr/>
          <p:nvPr/>
        </p:nvSpPr>
        <p:spPr>
          <a:xfrm>
            <a:off x="548640" y="1143000"/>
            <a:ext cx="2743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97"/>
          <p:cNvSpPr txBox="1"/>
          <p:nvPr/>
        </p:nvSpPr>
        <p:spPr>
          <a:xfrm>
            <a:off x="914400" y="1143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 담당</a:t>
            </a:r>
            <a:endParaRPr lang="en-US" sz="1200" dirty="0"/>
          </a:p>
        </p:txBody>
      </p:sp>
      <p:sp>
        <p:nvSpPr>
          <p:cNvPr id="5" name="r98"/>
          <p:cNvSpPr/>
          <p:nvPr/>
        </p:nvSpPr>
        <p:spPr>
          <a:xfrm>
            <a:off x="2103120" y="1143000"/>
            <a:ext cx="274320" cy="274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99"/>
          <p:cNvSpPr txBox="1"/>
          <p:nvPr/>
        </p:nvSpPr>
        <p:spPr>
          <a:xfrm>
            <a:off x="246888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사람 담당</a:t>
            </a:r>
            <a:endParaRPr lang="en-US" sz="1200" dirty="0"/>
          </a:p>
        </p:txBody>
      </p:sp>
      <p:sp>
        <p:nvSpPr>
          <p:cNvPr id="7" name="t100"/>
          <p:cNvSpPr txBox="1"/>
          <p:nvPr/>
        </p:nvSpPr>
        <p:spPr>
          <a:xfrm>
            <a:off x="548640" y="1600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 24시간 접수</a:t>
            </a:r>
            <a:endParaRPr lang="en-US" sz="1500" dirty="0"/>
          </a:p>
        </p:txBody>
      </p:sp>
      <p:sp>
        <p:nvSpPr>
          <p:cNvPr id="8" name="r101"/>
          <p:cNvSpPr/>
          <p:nvPr/>
        </p:nvSpPr>
        <p:spPr>
          <a:xfrm>
            <a:off x="548640" y="2057400"/>
            <a:ext cx="2029968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102"/>
          <p:cNvSpPr txBox="1"/>
          <p:nvPr/>
        </p:nvSpPr>
        <p:spPr>
          <a:xfrm>
            <a:off x="685800" y="21031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웹·앱·카카오톡 접수</a:t>
            </a:r>
            <a:endParaRPr lang="en-US" sz="1400" dirty="0"/>
          </a:p>
        </p:txBody>
      </p:sp>
      <p:sp>
        <p:nvSpPr>
          <p:cNvPr id="10" name="r103"/>
          <p:cNvSpPr/>
          <p:nvPr/>
        </p:nvSpPr>
        <p:spPr>
          <a:xfrm>
            <a:off x="548640" y="3611880"/>
            <a:ext cx="2029968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104"/>
          <p:cNvSpPr txBox="1"/>
          <p:nvPr/>
        </p:nvSpPr>
        <p:spPr>
          <a:xfrm>
            <a:off x="640080" y="36118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전화 접수 유지</a:t>
            </a:r>
            <a:endParaRPr lang="en-US" sz="1400" dirty="0"/>
          </a:p>
        </p:txBody>
      </p:sp>
      <p:sp>
        <p:nvSpPr>
          <p:cNvPr id="12" name="a105"/>
          <p:cNvSpPr/>
          <p:nvPr/>
        </p:nvSpPr>
        <p:spPr>
          <a:xfrm>
            <a:off x="2606040" y="2766060"/>
            <a:ext cx="1737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a106"/>
          <p:cNvSpPr/>
          <p:nvPr/>
        </p:nvSpPr>
        <p:spPr>
          <a:xfrm>
            <a:off x="1563624" y="4343400"/>
            <a:ext cx="0" cy="5029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14" name="t107"/>
          <p:cNvSpPr txBox="1"/>
          <p:nvPr/>
        </p:nvSpPr>
        <p:spPr>
          <a:xfrm>
            <a:off x="2807208" y="1600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 분류·셀프 진단</a:t>
            </a:r>
            <a:endParaRPr lang="en-US" sz="1500" dirty="0"/>
          </a:p>
        </p:txBody>
      </p:sp>
      <p:sp>
        <p:nvSpPr>
          <p:cNvPr id="15" name="r108"/>
          <p:cNvSpPr/>
          <p:nvPr/>
        </p:nvSpPr>
        <p:spPr>
          <a:xfrm>
            <a:off x="2807208" y="2057400"/>
            <a:ext cx="2029968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109"/>
          <p:cNvSpPr txBox="1"/>
          <p:nvPr/>
        </p:nvSpPr>
        <p:spPr>
          <a:xfrm>
            <a:off x="2944368" y="21031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에러코드·사진 수집, 매뉴얼 기반 안내</a:t>
            </a:r>
            <a:endParaRPr lang="en-US" sz="1400" dirty="0"/>
          </a:p>
        </p:txBody>
      </p:sp>
      <p:sp>
        <p:nvSpPr>
          <p:cNvPr id="17" name="r110"/>
          <p:cNvSpPr/>
          <p:nvPr/>
        </p:nvSpPr>
        <p:spPr>
          <a:xfrm>
            <a:off x="2807208" y="3611880"/>
            <a:ext cx="2029968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111"/>
          <p:cNvSpPr txBox="1"/>
          <p:nvPr/>
        </p:nvSpPr>
        <p:spPr>
          <a:xfrm>
            <a:off x="2898648" y="36118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매뉴얼 갱신</a:t>
            </a:r>
            <a:endParaRPr lang="en-US" sz="1400" dirty="0"/>
          </a:p>
        </p:txBody>
      </p:sp>
      <p:sp>
        <p:nvSpPr>
          <p:cNvPr id="19" name="a112"/>
          <p:cNvSpPr/>
          <p:nvPr/>
        </p:nvSpPr>
        <p:spPr>
          <a:xfrm>
            <a:off x="4864608" y="2766060"/>
            <a:ext cx="1737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a113"/>
          <p:cNvSpPr/>
          <p:nvPr/>
        </p:nvSpPr>
        <p:spPr>
          <a:xfrm>
            <a:off x="3822192" y="4343400"/>
            <a:ext cx="0" cy="5029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1" name="t114"/>
          <p:cNvSpPr txBox="1"/>
          <p:nvPr/>
        </p:nvSpPr>
        <p:spPr>
          <a:xfrm>
            <a:off x="5065776" y="1600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 해결 확인·방문 판정</a:t>
            </a:r>
            <a:endParaRPr lang="en-US" sz="1500" dirty="0"/>
          </a:p>
        </p:txBody>
      </p:sp>
      <p:sp>
        <p:nvSpPr>
          <p:cNvPr id="22" name="r115"/>
          <p:cNvSpPr/>
          <p:nvPr/>
        </p:nvSpPr>
        <p:spPr>
          <a:xfrm>
            <a:off x="5065776" y="2057400"/>
            <a:ext cx="2029968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116"/>
          <p:cNvSpPr txBox="1"/>
          <p:nvPr/>
        </p:nvSpPr>
        <p:spPr>
          <a:xfrm>
            <a:off x="5202936" y="21031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해결 시 종료, 미해결 시 체크리스트 판정</a:t>
            </a:r>
            <a:endParaRPr lang="en-US" sz="1400" dirty="0"/>
          </a:p>
        </p:txBody>
      </p:sp>
      <p:sp>
        <p:nvSpPr>
          <p:cNvPr id="24" name="r117"/>
          <p:cNvSpPr/>
          <p:nvPr/>
        </p:nvSpPr>
        <p:spPr>
          <a:xfrm>
            <a:off x="5065776" y="3611880"/>
            <a:ext cx="2029968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118"/>
          <p:cNvSpPr txBox="1"/>
          <p:nvPr/>
        </p:nvSpPr>
        <p:spPr>
          <a:xfrm>
            <a:off x="5157216" y="36118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애매한 건 판단</a:t>
            </a:r>
            <a:endParaRPr lang="en-US" sz="1400" dirty="0"/>
          </a:p>
        </p:txBody>
      </p:sp>
      <p:sp>
        <p:nvSpPr>
          <p:cNvPr id="26" name="a119"/>
          <p:cNvSpPr/>
          <p:nvPr/>
        </p:nvSpPr>
        <p:spPr>
          <a:xfrm>
            <a:off x="7123176" y="2766060"/>
            <a:ext cx="1737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a120"/>
          <p:cNvSpPr/>
          <p:nvPr/>
        </p:nvSpPr>
        <p:spPr>
          <a:xfrm>
            <a:off x="6080760" y="4343400"/>
            <a:ext cx="0" cy="5029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28" name="t121"/>
          <p:cNvSpPr txBox="1"/>
          <p:nvPr/>
        </p:nvSpPr>
        <p:spPr>
          <a:xfrm>
            <a:off x="7324344" y="1600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  예약·배정</a:t>
            </a:r>
            <a:endParaRPr lang="en-US" sz="1500" dirty="0"/>
          </a:p>
        </p:txBody>
      </p:sp>
      <p:sp>
        <p:nvSpPr>
          <p:cNvPr id="29" name="r122"/>
          <p:cNvSpPr/>
          <p:nvPr/>
        </p:nvSpPr>
        <p:spPr>
          <a:xfrm>
            <a:off x="7324344" y="2057400"/>
            <a:ext cx="2029968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123"/>
          <p:cNvSpPr txBox="1"/>
          <p:nvPr/>
        </p:nvSpPr>
        <p:spPr>
          <a:xfrm>
            <a:off x="7461504" y="21031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일정 선택, 배정안 생성</a:t>
            </a:r>
            <a:endParaRPr lang="en-US" sz="1400" dirty="0"/>
          </a:p>
        </p:txBody>
      </p:sp>
      <p:sp>
        <p:nvSpPr>
          <p:cNvPr id="31" name="r124"/>
          <p:cNvSpPr/>
          <p:nvPr/>
        </p:nvSpPr>
        <p:spPr>
          <a:xfrm>
            <a:off x="7324344" y="3611880"/>
            <a:ext cx="2029968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125"/>
          <p:cNvSpPr txBox="1"/>
          <p:nvPr/>
        </p:nvSpPr>
        <p:spPr>
          <a:xfrm>
            <a:off x="7415784" y="36118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배정 확정</a:t>
            </a:r>
            <a:endParaRPr lang="en-US" sz="1400" dirty="0"/>
          </a:p>
        </p:txBody>
      </p:sp>
      <p:sp>
        <p:nvSpPr>
          <p:cNvPr id="33" name="a126"/>
          <p:cNvSpPr/>
          <p:nvPr/>
        </p:nvSpPr>
        <p:spPr>
          <a:xfrm>
            <a:off x="9381744" y="2766060"/>
            <a:ext cx="17373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a127"/>
          <p:cNvSpPr/>
          <p:nvPr/>
        </p:nvSpPr>
        <p:spPr>
          <a:xfrm>
            <a:off x="8339328" y="4343400"/>
            <a:ext cx="0" cy="5029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35" name="t128"/>
          <p:cNvSpPr txBox="1"/>
          <p:nvPr/>
        </p:nvSpPr>
        <p:spPr>
          <a:xfrm>
            <a:off x="9582912" y="16002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  요약·티켓</a:t>
            </a:r>
            <a:endParaRPr lang="en-US" sz="1500" dirty="0"/>
          </a:p>
        </p:txBody>
      </p:sp>
      <p:sp>
        <p:nvSpPr>
          <p:cNvPr id="36" name="r129"/>
          <p:cNvSpPr/>
          <p:nvPr/>
        </p:nvSpPr>
        <p:spPr>
          <a:xfrm>
            <a:off x="9582912" y="2057400"/>
            <a:ext cx="2029968" cy="1417320"/>
          </a:xfrm>
          <a:prstGeom prst="roundRect">
            <a:avLst>
              <a:gd name="adj" fmla="val 516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130"/>
          <p:cNvSpPr txBox="1"/>
          <p:nvPr/>
        </p:nvSpPr>
        <p:spPr>
          <a:xfrm>
            <a:off x="9720072" y="2103120"/>
            <a:ext cx="17556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자동 요약·티켓 생성</a:t>
            </a:r>
            <a:endParaRPr lang="en-US" sz="1400" dirty="0"/>
          </a:p>
        </p:txBody>
      </p:sp>
      <p:sp>
        <p:nvSpPr>
          <p:cNvPr id="38" name="r131"/>
          <p:cNvSpPr/>
          <p:nvPr/>
        </p:nvSpPr>
        <p:spPr>
          <a:xfrm>
            <a:off x="9582912" y="3611880"/>
            <a:ext cx="2029968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t132"/>
          <p:cNvSpPr txBox="1"/>
          <p:nvPr/>
        </p:nvSpPr>
        <p:spPr>
          <a:xfrm>
            <a:off x="9674352" y="361188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확인 1분</a:t>
            </a:r>
            <a:endParaRPr lang="en-US" sz="1400" dirty="0"/>
          </a:p>
        </p:txBody>
      </p:sp>
      <p:sp>
        <p:nvSpPr>
          <p:cNvPr id="40" name="a133"/>
          <p:cNvSpPr/>
          <p:nvPr/>
        </p:nvSpPr>
        <p:spPr>
          <a:xfrm>
            <a:off x="10597896" y="4343400"/>
            <a:ext cx="0" cy="50292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41" name="r134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42" name="t135"/>
          <p:cNvSpPr txBox="1"/>
          <p:nvPr/>
        </p:nvSpPr>
        <p:spPr>
          <a:xfrm>
            <a:off x="822960" y="48920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  사람 이관</a:t>
            </a:r>
            <a:endParaRPr lang="en-US" sz="1800" dirty="0"/>
          </a:p>
        </p:txBody>
      </p:sp>
      <p:sp>
        <p:nvSpPr>
          <p:cNvPr id="43" name="t136"/>
          <p:cNvSpPr txBox="1"/>
          <p:nvPr/>
        </p:nvSpPr>
        <p:spPr>
          <a:xfrm>
            <a:off x="3017520" y="489204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안전 증상(연기·발열·누전)·불만·반복 고장·2회 미해결·상담원 요청 → 즉시 이관, 이력 전달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업무 외 긴급 건 → 고정 안전 안내·긴급 연락처 → 익영업일 최우선 콜백</a:t>
            </a:r>
            <a:endParaRPr lang="en-US" sz="1400" dirty="0"/>
          </a:p>
        </p:txBody>
      </p:sp>
      <p:sp>
        <p:nvSpPr>
          <p:cNvPr id="44" name="t137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사진은 티켓에 첨부해 사람이 확인(자동 판독은 3단계 이후 검토). 엔지니어 배정은 지역·제품 규칙 기반 배정안을 사람이 확정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도구·기술 구성: 채널톡 ALF 하나로 파일럿 시작</a:t>
            </a:r>
            <a:endParaRPr lang="en-US" sz="3000" dirty="0"/>
          </a:p>
        </p:txBody>
      </p:sp>
      <p:sp>
        <p:nvSpPr>
          <p:cNvPr id="3" name="r138"/>
          <p:cNvSpPr/>
          <p:nvPr/>
        </p:nvSpPr>
        <p:spPr>
          <a:xfrm>
            <a:off x="548640" y="128016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139"/>
          <p:cNvSpPr/>
          <p:nvPr/>
        </p:nvSpPr>
        <p:spPr>
          <a:xfrm>
            <a:off x="548640" y="1280160"/>
            <a:ext cx="1737360" cy="987552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140"/>
          <p:cNvSpPr txBox="1"/>
          <p:nvPr/>
        </p:nvSpPr>
        <p:spPr>
          <a:xfrm>
            <a:off x="548640" y="128016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고객 접점</a:t>
            </a:r>
            <a:endParaRPr lang="en-US" sz="1600" dirty="0"/>
          </a:p>
        </p:txBody>
      </p:sp>
      <p:sp>
        <p:nvSpPr>
          <p:cNvPr id="6" name="t141"/>
          <p:cNvSpPr txBox="1"/>
          <p:nvPr/>
        </p:nvSpPr>
        <p:spPr>
          <a:xfrm>
            <a:off x="2514600" y="1280160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채널톡 웹·앱 위젯, 카카오톡 상담톡 · 전화 유지</a:t>
            </a:r>
            <a:endParaRPr lang="en-US" sz="1400" dirty="0"/>
          </a:p>
        </p:txBody>
      </p:sp>
      <p:sp>
        <p:nvSpPr>
          <p:cNvPr id="7" name="t142"/>
          <p:cNvSpPr txBox="1"/>
          <p:nvPr/>
        </p:nvSpPr>
        <p:spPr>
          <a:xfrm>
            <a:off x="6263640" y="1280160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플랜 구독료(견적 확인)</a:t>
            </a:r>
            <a:endParaRPr lang="en-US" sz="1400" dirty="0"/>
          </a:p>
        </p:txBody>
      </p:sp>
      <p:sp>
        <p:nvSpPr>
          <p:cNvPr id="8" name="r143"/>
          <p:cNvSpPr/>
          <p:nvPr/>
        </p:nvSpPr>
        <p:spPr>
          <a:xfrm>
            <a:off x="548640" y="2450592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144"/>
          <p:cNvSpPr/>
          <p:nvPr/>
        </p:nvSpPr>
        <p:spPr>
          <a:xfrm>
            <a:off x="548640" y="2450592"/>
            <a:ext cx="1737360" cy="987552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145"/>
          <p:cNvSpPr txBox="1"/>
          <p:nvPr/>
        </p:nvSpPr>
        <p:spPr>
          <a:xfrm>
            <a:off x="548640" y="245059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 엔진</a:t>
            </a:r>
            <a:endParaRPr lang="en-US" sz="1600" dirty="0"/>
          </a:p>
        </p:txBody>
      </p:sp>
      <p:sp>
        <p:nvSpPr>
          <p:cNvPr id="11" name="t146"/>
          <p:cNvSpPr txBox="1"/>
          <p:nvPr/>
        </p:nvSpPr>
        <p:spPr>
          <a:xfrm>
            <a:off x="2514600" y="2450592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ALF (LLM + 사내 매뉴얼 검색 RAG)</a:t>
            </a:r>
            <a:endParaRPr lang="en-US" sz="1400" dirty="0"/>
          </a:p>
        </p:txBody>
      </p:sp>
      <p:sp>
        <p:nvSpPr>
          <p:cNvPr id="12" name="t147"/>
          <p:cNvSpPr txBox="1"/>
          <p:nvPr/>
        </p:nvSpPr>
        <p:spPr>
          <a:xfrm>
            <a:off x="6263640" y="2450592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상담 참여당 500원</a:t>
            </a:r>
            <a:endParaRPr lang="en-US" sz="1400" dirty="0"/>
          </a:p>
        </p:txBody>
      </p:sp>
      <p:sp>
        <p:nvSpPr>
          <p:cNvPr id="13" name="r148"/>
          <p:cNvSpPr/>
          <p:nvPr/>
        </p:nvSpPr>
        <p:spPr>
          <a:xfrm>
            <a:off x="548640" y="3621024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149"/>
          <p:cNvSpPr/>
          <p:nvPr/>
        </p:nvSpPr>
        <p:spPr>
          <a:xfrm>
            <a:off x="548640" y="3621024"/>
            <a:ext cx="1737360" cy="987552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150"/>
          <p:cNvSpPr txBox="1"/>
          <p:nvPr/>
        </p:nvSpPr>
        <p:spPr>
          <a:xfrm>
            <a:off x="548640" y="3621024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시스템 연동</a:t>
            </a:r>
            <a:endParaRPr lang="en-US" sz="1600" dirty="0"/>
          </a:p>
        </p:txBody>
      </p:sp>
      <p:sp>
        <p:nvSpPr>
          <p:cNvPr id="16" name="t151"/>
          <p:cNvSpPr txBox="1"/>
          <p:nvPr/>
        </p:nvSpPr>
        <p:spPr>
          <a:xfrm>
            <a:off x="2514600" y="3621024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ALF 태스크 → 접수·일정·배정 시스템</a:t>
            </a:r>
            <a:endParaRPr lang="en-US" sz="1400" dirty="0"/>
          </a:p>
        </p:txBody>
      </p:sp>
      <p:sp>
        <p:nvSpPr>
          <p:cNvPr id="17" name="t152"/>
          <p:cNvSpPr txBox="1"/>
          <p:nvPr/>
        </p:nvSpPr>
        <p:spPr>
          <a:xfrm>
            <a:off x="6263640" y="3621024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IT 연동 2~4주 [가정]</a:t>
            </a:r>
            <a:endParaRPr lang="en-US" sz="1400" dirty="0"/>
          </a:p>
        </p:txBody>
      </p:sp>
      <p:sp>
        <p:nvSpPr>
          <p:cNvPr id="18" name="r153"/>
          <p:cNvSpPr/>
          <p:nvPr/>
        </p:nvSpPr>
        <p:spPr>
          <a:xfrm>
            <a:off x="548640" y="4791456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154"/>
          <p:cNvSpPr/>
          <p:nvPr/>
        </p:nvSpPr>
        <p:spPr>
          <a:xfrm>
            <a:off x="548640" y="4791456"/>
            <a:ext cx="1737360" cy="987552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155"/>
          <p:cNvSpPr txBox="1"/>
          <p:nvPr/>
        </p:nvSpPr>
        <p:spPr>
          <a:xfrm>
            <a:off x="548640" y="4791456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운영</a:t>
            </a:r>
            <a:endParaRPr lang="en-US" sz="1600" dirty="0"/>
          </a:p>
        </p:txBody>
      </p:sp>
      <p:sp>
        <p:nvSpPr>
          <p:cNvPr id="21" name="t156"/>
          <p:cNvSpPr txBox="1"/>
          <p:nvPr/>
        </p:nvSpPr>
        <p:spPr>
          <a:xfrm>
            <a:off x="2514600" y="4791456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대시보드(완결률·이관률) · 오답 로그 · KPI</a:t>
            </a:r>
            <a:endParaRPr lang="en-US" sz="1400" dirty="0"/>
          </a:p>
        </p:txBody>
      </p:sp>
      <p:sp>
        <p:nvSpPr>
          <p:cNvPr id="22" name="t157"/>
          <p:cNvSpPr txBox="1"/>
          <p:nvPr/>
        </p:nvSpPr>
        <p:spPr>
          <a:xfrm>
            <a:off x="6263640" y="4791456"/>
            <a:ext cx="1920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견적 시 확인</a:t>
            </a:r>
            <a:endParaRPr lang="en-US" sz="1400" dirty="0"/>
          </a:p>
        </p:txBody>
      </p:sp>
      <p:sp>
        <p:nvSpPr>
          <p:cNvPr id="23" name="r158"/>
          <p:cNvSpPr/>
          <p:nvPr/>
        </p:nvSpPr>
        <p:spPr>
          <a:xfrm>
            <a:off x="8641080" y="1280160"/>
            <a:ext cx="2971800" cy="4498848"/>
          </a:xfrm>
          <a:prstGeom prst="roundRect">
            <a:avLst>
              <a:gd name="adj" fmla="val 246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159"/>
          <p:cNvSpPr txBox="1"/>
          <p:nvPr/>
        </p:nvSpPr>
        <p:spPr>
          <a:xfrm>
            <a:off x="891540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1순위</a:t>
            </a:r>
            <a:endParaRPr lang="en-US" sz="1400" dirty="0"/>
          </a:p>
        </p:txBody>
      </p:sp>
      <p:sp>
        <p:nvSpPr>
          <p:cNvPr id="25" name="t160"/>
          <p:cNvSpPr txBox="1"/>
          <p:nvPr/>
        </p:nvSpPr>
        <p:spPr>
          <a:xfrm>
            <a:off x="891540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채널톡 ALF</a:t>
            </a:r>
            <a:endParaRPr lang="en-US" sz="2400" dirty="0"/>
          </a:p>
        </p:txBody>
      </p:sp>
      <p:sp>
        <p:nvSpPr>
          <p:cNvPr id="26" name="t161"/>
          <p:cNvSpPr txBox="1"/>
          <p:nvPr/>
        </p:nvSpPr>
        <p:spPr>
          <a:xfrm>
            <a:off x="8915400" y="24688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월 약 30만 원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파일럿 월 600건 [가정]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3단계 월 1,560건 시 약 78만 원</a:t>
            </a:r>
            <a:endParaRPr lang="en-US" sz="1400" dirty="0"/>
          </a:p>
        </p:txBody>
      </p:sp>
      <p:sp>
        <p:nvSpPr>
          <p:cNvPr id="27" name="t162"/>
          <p:cNvSpPr txBox="1"/>
          <p:nvPr/>
        </p:nvSpPr>
        <p:spPr>
          <a:xfrm>
            <a:off x="8915400" y="370332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공개 단가로 예산 예측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이관·요약 기본 제공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별도 개발 없이 파일럿</a:t>
            </a:r>
            <a:endParaRPr lang="en-US" sz="1400" dirty="0"/>
          </a:p>
        </p:txBody>
      </p:sp>
      <p:sp>
        <p:nvSpPr>
          <p:cNvPr id="28" name="t163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[9] 채널톡 ALF v2 공지(상담 참여당 500원, VAT 별도). 전화 음성봇(센터플로우)·티켓 통합(Zendesk)은 3단계에서 검토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기대 효과: 대기업 사례보다 보수적인 목표</a:t>
            </a:r>
            <a:endParaRPr lang="en-US" sz="3000" dirty="0"/>
          </a:p>
        </p:txBody>
      </p:sp>
      <p:graphicFrame>
        <p:nvGraphicFramePr>
          <p:cNvPr id="9" name="effec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589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지표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현재 [가정]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목표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1차 응답 시간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전화 대기 약 1분, 업무 외 익영업일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챗봇 즉시, 이관 시 5분 이내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챗봇 완결률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25% → 30%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기록 시간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건당 5.5분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건당 1분(최소 50% 단축)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1인당 처리 건수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하루 25건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하루 30건 [가정]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고객 만족도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현행 수준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유지(하락 없음)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연간 절감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약 2,300만 원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164"/>
          <p:cNvSpPr/>
          <p:nvPr/>
        </p:nvSpPr>
        <p:spPr>
          <a:xfrm>
            <a:off x="8458200" y="1234440"/>
            <a:ext cx="3154680" cy="2057400"/>
          </a:xfrm>
          <a:prstGeom prst="roundRect">
            <a:avLst>
              <a:gd name="adj" fmla="val 355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165"/>
          <p:cNvSpPr txBox="1"/>
          <p:nvPr/>
        </p:nvSpPr>
        <p:spPr>
          <a:xfrm>
            <a:off x="8686800" y="1234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약 2.9시간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1인 하루 최대 확보(3단계) [가정]</a:t>
            </a:r>
            <a:endParaRPr lang="en-US" sz="1400" dirty="0"/>
          </a:p>
        </p:txBody>
      </p:sp>
      <p:sp>
        <p:nvSpPr>
          <p:cNvPr id="6" name="r166"/>
          <p:cNvSpPr/>
          <p:nvPr/>
        </p:nvSpPr>
        <p:spPr>
          <a:xfrm>
            <a:off x="8458200" y="3474720"/>
            <a:ext cx="315468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167"/>
          <p:cNvSpPr txBox="1"/>
          <p:nvPr/>
        </p:nvSpPr>
        <p:spPr>
          <a:xfrm>
            <a:off x="8686800" y="347472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감축 아닌 재배치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방문 판단·불만 응대·매뉴얼 관리로 전환</a:t>
            </a:r>
            <a:endParaRPr lang="en-US" sz="1400" dirty="0"/>
          </a:p>
        </p:txBody>
      </p:sp>
      <p:sp>
        <p:nvSpPr>
          <p:cNvPr id="8" name="r168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169"/>
          <p:cNvSpPr txBox="1"/>
          <p:nvPr/>
        </p:nvSpPr>
        <p:spPr>
          <a:xfrm>
            <a:off x="77724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절감 산식 [가정]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3명 × 1.5시간(2.9시간의 50%) × 250일 × 3만 원 − 도구비 1,176만 원 + 출장 120만 원 ≈ 2,300만 원</a:t>
            </a:r>
            <a:endParaRPr lang="en-US" sz="1400" dirty="0"/>
          </a:p>
        </p:txBody>
      </p:sp>
      <p:sp>
        <p:nvSpPr>
          <p:cNvPr id="10" name="t170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근거: 대기 47초→5초·상담시간 16% 감소 [7], KTcs 보이스봇 인입콜 약 30% 처리 [12], 시민 87.5% 사람 상담 선호 [2]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로드맵·리스크: 단계별 KPI 달성 시에만 확대</a:t>
            </a:r>
            <a:endParaRPr lang="en-US" sz="3000" dirty="0"/>
          </a:p>
        </p:txBody>
      </p:sp>
      <p:sp>
        <p:nvSpPr>
          <p:cNvPr id="3" name="tl"/>
          <p:cNvSpPr/>
          <p:nvPr/>
        </p:nvSpPr>
        <p:spPr>
          <a:xfrm>
            <a:off x="1783080" y="1828800"/>
            <a:ext cx="85953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1600200" y="1645920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171"/>
          <p:cNvSpPr txBox="1"/>
          <p:nvPr/>
        </p:nvSpPr>
        <p:spPr>
          <a:xfrm>
            <a:off x="50292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2주</a:t>
            </a:r>
            <a:endParaRPr lang="en-US" sz="1400" dirty="0"/>
          </a:p>
        </p:txBody>
      </p:sp>
      <p:sp>
        <p:nvSpPr>
          <p:cNvPr id="6" name="t172"/>
          <p:cNvSpPr txBox="1"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0단계 사전 측정</a:t>
            </a:r>
            <a:endParaRPr lang="en-US" sz="1500" dirty="0"/>
          </a:p>
        </p:txBody>
      </p:sp>
      <p:sp>
        <p:nvSpPr>
          <p:cNvPr id="7" name="t173"/>
          <p:cNvSpPr txBox="1"/>
          <p:nvPr/>
        </p:nvSpPr>
        <p:spPr>
          <a:xfrm>
            <a:off x="45720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실측 기준값 확정</a:t>
            </a:r>
            <a:endParaRPr lang="en-US" sz="1400" dirty="0"/>
          </a:p>
        </p:txBody>
      </p:sp>
      <p:sp>
        <p:nvSpPr>
          <p:cNvPr id="8" name="dot1"/>
          <p:cNvSpPr/>
          <p:nvPr/>
        </p:nvSpPr>
        <p:spPr>
          <a:xfrm>
            <a:off x="4465320" y="16459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9" name="t174"/>
          <p:cNvSpPr txBox="1"/>
          <p:nvPr/>
        </p:nvSpPr>
        <p:spPr>
          <a:xfrm>
            <a:off x="336804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1~3개월</a:t>
            </a:r>
            <a:endParaRPr lang="en-US" sz="1400" dirty="0"/>
          </a:p>
        </p:txBody>
      </p:sp>
      <p:sp>
        <p:nvSpPr>
          <p:cNvPr id="10" name="t175"/>
          <p:cNvSpPr txBox="1"/>
          <p:nvPr/>
        </p:nvSpPr>
        <p:spPr>
          <a:xfrm>
            <a:off x="33223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1단계 파일럿</a:t>
            </a:r>
            <a:endParaRPr lang="en-US" sz="1500" dirty="0"/>
          </a:p>
        </p:txBody>
      </p:sp>
      <p:sp>
        <p:nvSpPr>
          <p:cNvPr id="11" name="t176"/>
          <p:cNvSpPr txBox="1"/>
          <p:nvPr/>
        </p:nvSpPr>
        <p:spPr>
          <a:xfrm>
            <a:off x="332232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완결 25%, 기록 50% 단축</a:t>
            </a:r>
            <a:endParaRPr lang="en-US" sz="1400" dirty="0"/>
          </a:p>
        </p:txBody>
      </p:sp>
      <p:sp>
        <p:nvSpPr>
          <p:cNvPr id="12" name="dot2"/>
          <p:cNvSpPr/>
          <p:nvPr/>
        </p:nvSpPr>
        <p:spPr>
          <a:xfrm>
            <a:off x="7330440" y="1645920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t177"/>
          <p:cNvSpPr txBox="1"/>
          <p:nvPr/>
        </p:nvSpPr>
        <p:spPr>
          <a:xfrm>
            <a:off x="623316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4~5개월</a:t>
            </a:r>
            <a:endParaRPr lang="en-US" sz="1400" dirty="0"/>
          </a:p>
        </p:txBody>
      </p:sp>
      <p:sp>
        <p:nvSpPr>
          <p:cNvPr id="14" name="t178"/>
          <p:cNvSpPr txBox="1"/>
          <p:nvPr/>
        </p:nvSpPr>
        <p:spPr>
          <a:xfrm>
            <a:off x="61874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2단계 진단·예약 연동</a:t>
            </a:r>
            <a:endParaRPr lang="en-US" sz="1500" dirty="0"/>
          </a:p>
        </p:txBody>
      </p:sp>
      <p:sp>
        <p:nvSpPr>
          <p:cNvPr id="15" name="t179"/>
          <p:cNvSpPr txBox="1"/>
          <p:nvPr/>
        </p:nvSpPr>
        <p:spPr>
          <a:xfrm>
            <a:off x="618744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불필요 방문 5% 감소 [가정] · 이관 5분 내</a:t>
            </a:r>
            <a:endParaRPr lang="en-US" sz="1400" dirty="0"/>
          </a:p>
        </p:txBody>
      </p:sp>
      <p:sp>
        <p:nvSpPr>
          <p:cNvPr id="16" name="dot3"/>
          <p:cNvSpPr/>
          <p:nvPr/>
        </p:nvSpPr>
        <p:spPr>
          <a:xfrm>
            <a:off x="10195560" y="1645920"/>
            <a:ext cx="365760" cy="36576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t180"/>
          <p:cNvSpPr txBox="1"/>
          <p:nvPr/>
        </p:nvSpPr>
        <p:spPr>
          <a:xfrm>
            <a:off x="9098280" y="1188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6개월~</a:t>
            </a:r>
            <a:endParaRPr lang="en-US" sz="1400" dirty="0"/>
          </a:p>
        </p:txBody>
      </p:sp>
      <p:sp>
        <p:nvSpPr>
          <p:cNvPr id="18" name="t181"/>
          <p:cNvSpPr txBox="1"/>
          <p:nvPr/>
        </p:nvSpPr>
        <p:spPr>
          <a:xfrm>
            <a:off x="905256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3단계 전 채널 확대</a:t>
            </a:r>
            <a:endParaRPr lang="en-US" sz="1500" dirty="0"/>
          </a:p>
        </p:txBody>
      </p:sp>
      <p:sp>
        <p:nvSpPr>
          <p:cNvPr id="19" name="t182"/>
          <p:cNvSpPr txBox="1"/>
          <p:nvPr/>
        </p:nvSpPr>
        <p:spPr>
          <a:xfrm>
            <a:off x="905256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완결 30% · 불필요 방문 10% 감소 · 이관 5분 내</a:t>
            </a:r>
            <a:endParaRPr lang="en-US" sz="1400" dirty="0"/>
          </a:p>
        </p:txBody>
      </p:sp>
      <p:sp>
        <p:nvSpPr>
          <p:cNvPr id="20" name="r183"/>
          <p:cNvSpPr/>
          <p:nvPr/>
        </p:nvSpPr>
        <p:spPr>
          <a:xfrm>
            <a:off x="548640" y="352044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184"/>
          <p:cNvSpPr txBox="1"/>
          <p:nvPr/>
        </p:nvSpPr>
        <p:spPr>
          <a:xfrm>
            <a:off x="7772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리스크</a:t>
            </a:r>
            <a:endParaRPr lang="en-US" sz="1200" dirty="0"/>
          </a:p>
        </p:txBody>
      </p:sp>
      <p:sp>
        <p:nvSpPr>
          <p:cNvPr id="22" name="t185"/>
          <p:cNvSpPr txBox="1"/>
          <p:nvPr/>
        </p:nvSpPr>
        <p:spPr>
          <a:xfrm>
            <a:off x="77724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오답 안내</a:t>
            </a:r>
            <a:endParaRPr lang="en-US" sz="1700" dirty="0"/>
          </a:p>
        </p:txBody>
      </p:sp>
      <p:sp>
        <p:nvSpPr>
          <p:cNvPr id="23" name="a186"/>
          <p:cNvSpPr/>
          <p:nvPr/>
        </p:nvSpPr>
        <p:spPr>
          <a:xfrm>
            <a:off x="868680" y="4434840"/>
            <a:ext cx="0" cy="3200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187"/>
          <p:cNvSpPr txBox="1"/>
          <p:nvPr/>
        </p:nvSpPr>
        <p:spPr>
          <a:xfrm>
            <a:off x="777240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안전 증상은 고정 답변 + 즉시 이관</a:t>
            </a:r>
            <a:endParaRPr lang="en-US" sz="1400" dirty="0"/>
          </a:p>
        </p:txBody>
      </p:sp>
      <p:sp>
        <p:nvSpPr>
          <p:cNvPr id="25" name="r188"/>
          <p:cNvSpPr/>
          <p:nvPr/>
        </p:nvSpPr>
        <p:spPr>
          <a:xfrm>
            <a:off x="3364992" y="352044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189"/>
          <p:cNvSpPr txBox="1"/>
          <p:nvPr/>
        </p:nvSpPr>
        <p:spPr>
          <a:xfrm>
            <a:off x="3593592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리스크</a:t>
            </a:r>
            <a:endParaRPr lang="en-US" sz="1200" dirty="0"/>
          </a:p>
        </p:txBody>
      </p:sp>
      <p:sp>
        <p:nvSpPr>
          <p:cNvPr id="27" name="t190"/>
          <p:cNvSpPr txBox="1"/>
          <p:nvPr/>
        </p:nvSpPr>
        <p:spPr>
          <a:xfrm>
            <a:off x="3593592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고객 수용성</a:t>
            </a:r>
            <a:endParaRPr lang="en-US" sz="1700" dirty="0"/>
          </a:p>
        </p:txBody>
      </p:sp>
      <p:sp>
        <p:nvSpPr>
          <p:cNvPr id="28" name="a191"/>
          <p:cNvSpPr/>
          <p:nvPr/>
        </p:nvSpPr>
        <p:spPr>
          <a:xfrm>
            <a:off x="3685032" y="4434840"/>
            <a:ext cx="0" cy="3200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t192"/>
          <p:cNvSpPr txBox="1"/>
          <p:nvPr/>
        </p:nvSpPr>
        <p:spPr>
          <a:xfrm>
            <a:off x="3593592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상담원 연결 버튼 상시, 전화 유지</a:t>
            </a:r>
            <a:endParaRPr lang="en-US" sz="1400" dirty="0"/>
          </a:p>
        </p:txBody>
      </p:sp>
      <p:sp>
        <p:nvSpPr>
          <p:cNvPr id="30" name="r193"/>
          <p:cNvSpPr/>
          <p:nvPr/>
        </p:nvSpPr>
        <p:spPr>
          <a:xfrm>
            <a:off x="6181344" y="352044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194"/>
          <p:cNvSpPr txBox="1"/>
          <p:nvPr/>
        </p:nvSpPr>
        <p:spPr>
          <a:xfrm>
            <a:off x="6409944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리스크</a:t>
            </a:r>
            <a:endParaRPr lang="en-US" sz="1200" dirty="0"/>
          </a:p>
        </p:txBody>
      </p:sp>
      <p:sp>
        <p:nvSpPr>
          <p:cNvPr id="32" name="t195"/>
          <p:cNvSpPr txBox="1"/>
          <p:nvPr/>
        </p:nvSpPr>
        <p:spPr>
          <a:xfrm>
            <a:off x="6409944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상담원 부담</a:t>
            </a:r>
            <a:endParaRPr lang="en-US" sz="1700" dirty="0"/>
          </a:p>
        </p:txBody>
      </p:sp>
      <p:sp>
        <p:nvSpPr>
          <p:cNvPr id="33" name="a196"/>
          <p:cNvSpPr/>
          <p:nvPr/>
        </p:nvSpPr>
        <p:spPr>
          <a:xfrm>
            <a:off x="6501384" y="4434840"/>
            <a:ext cx="0" cy="3200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t197"/>
          <p:cNvSpPr txBox="1"/>
          <p:nvPr/>
        </p:nvSpPr>
        <p:spPr>
          <a:xfrm>
            <a:off x="6409944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건수 중심 → 난이도 반영 평가</a:t>
            </a:r>
            <a:endParaRPr lang="en-US" sz="1400" dirty="0"/>
          </a:p>
        </p:txBody>
      </p:sp>
      <p:sp>
        <p:nvSpPr>
          <p:cNvPr id="35" name="r198"/>
          <p:cNvSpPr/>
          <p:nvPr/>
        </p:nvSpPr>
        <p:spPr>
          <a:xfrm>
            <a:off x="8997696" y="352044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199"/>
          <p:cNvSpPr txBox="1"/>
          <p:nvPr/>
        </p:nvSpPr>
        <p:spPr>
          <a:xfrm>
            <a:off x="9226296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리스크</a:t>
            </a:r>
            <a:endParaRPr lang="en-US" sz="1200" dirty="0"/>
          </a:p>
        </p:txBody>
      </p:sp>
      <p:sp>
        <p:nvSpPr>
          <p:cNvPr id="37" name="t200"/>
          <p:cNvSpPr txBox="1"/>
          <p:nvPr/>
        </p:nvSpPr>
        <p:spPr>
          <a:xfrm>
            <a:off x="9226296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개인정보·법규</a:t>
            </a:r>
            <a:endParaRPr lang="en-US" sz="1700" dirty="0"/>
          </a:p>
        </p:txBody>
      </p:sp>
      <p:sp>
        <p:nvSpPr>
          <p:cNvPr id="38" name="a201"/>
          <p:cNvSpPr/>
          <p:nvPr/>
        </p:nvSpPr>
        <p:spPr>
          <a:xfrm>
            <a:off x="9317736" y="4434840"/>
            <a:ext cx="0" cy="3200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t202"/>
          <p:cNvSpPr txBox="1"/>
          <p:nvPr/>
        </p:nvSpPr>
        <p:spPr>
          <a:xfrm>
            <a:off x="9226296" y="4800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처리위탁 계약, "AI 상담" 고지</a:t>
            </a:r>
            <a:endParaRPr lang="en-US" sz="1400" dirty="0"/>
          </a:p>
        </p:txBody>
      </p:sp>
      <p:sp>
        <p:nvSpPr>
          <p:cNvPr id="40" name="t203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[10] Gartner 2024.7.9: 64%가 고객서비스 AI 미사용 희망  [1] 도입 사업장 60.8% 노동조건 악화 체감  [11] AI 기본법 2026.1.22 시행, 생성형 AI 사전 고지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결론 및 요청: 3개월 파일럿 승인</a:t>
            </a:r>
            <a:endParaRPr lang="en-US" sz="3000" dirty="0"/>
          </a:p>
        </p:txBody>
      </p:sp>
      <p:sp>
        <p:nvSpPr>
          <p:cNvPr id="3" name="r204"/>
          <p:cNvSpPr/>
          <p:nvPr/>
        </p:nvSpPr>
        <p:spPr>
          <a:xfrm>
            <a:off x="548640" y="123444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205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2주 사전 측정 후, 채팅 채널·상위 반복 증상 20개로 3개월 파일럿을 승인해 주십시오</a:t>
            </a:r>
            <a:endParaRPr lang="en-US" sz="1900" dirty="0"/>
          </a:p>
        </p:txBody>
      </p:sp>
      <p:sp>
        <p:nvSpPr>
          <p:cNvPr id="5" name="t206"/>
          <p:cNvSpPr txBox="1"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필요 자원</a:t>
            </a:r>
            <a:endParaRPr lang="en-US" sz="1600" dirty="0"/>
          </a:p>
        </p:txBody>
      </p:sp>
      <p:sp>
        <p:nvSpPr>
          <p:cNvPr id="6" name="r207"/>
          <p:cNvSpPr/>
          <p:nvPr/>
        </p:nvSpPr>
        <p:spPr>
          <a:xfrm>
            <a:off x="548640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208"/>
          <p:cNvSpPr txBox="1"/>
          <p:nvPr/>
        </p:nvSpPr>
        <p:spPr>
          <a:xfrm>
            <a:off x="731520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IT 연동 확인</a:t>
            </a:r>
            <a:endParaRPr lang="en-US" sz="1600" dirty="0"/>
          </a:p>
        </p:txBody>
      </p:sp>
      <p:sp>
        <p:nvSpPr>
          <p:cNvPr id="8" name="t209"/>
          <p:cNvSpPr txBox="1"/>
          <p:nvPr/>
        </p:nvSpPr>
        <p:spPr>
          <a:xfrm>
            <a:off x="73152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접수 시스템 API·CSV 가능 여부</a:t>
            </a:r>
            <a:endParaRPr lang="en-US" sz="1400" dirty="0"/>
          </a:p>
        </p:txBody>
      </p:sp>
      <p:sp>
        <p:nvSpPr>
          <p:cNvPr id="9" name="r210"/>
          <p:cNvSpPr/>
          <p:nvPr/>
        </p:nvSpPr>
        <p:spPr>
          <a:xfrm>
            <a:off x="3364992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211"/>
          <p:cNvSpPr txBox="1"/>
          <p:nvPr/>
        </p:nvSpPr>
        <p:spPr>
          <a:xfrm>
            <a:off x="3547872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예산 월 약 50만 원</a:t>
            </a:r>
            <a:endParaRPr lang="en-US" sz="1600" dirty="0"/>
          </a:p>
        </p:txBody>
      </p:sp>
      <p:sp>
        <p:nvSpPr>
          <p:cNvPr id="11" name="t212"/>
          <p:cNvSpPr txBox="1"/>
          <p:nvPr/>
        </p:nvSpPr>
        <p:spPr>
          <a:xfrm>
            <a:off x="3547872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파일럿 기준 [가정]. 3단계 월 약 98만 원</a:t>
            </a:r>
            <a:endParaRPr lang="en-US" sz="1400" dirty="0"/>
          </a:p>
        </p:txBody>
      </p:sp>
      <p:sp>
        <p:nvSpPr>
          <p:cNvPr id="12" name="r213"/>
          <p:cNvSpPr/>
          <p:nvPr/>
        </p:nvSpPr>
        <p:spPr>
          <a:xfrm>
            <a:off x="6181344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214"/>
          <p:cNvSpPr txBox="1"/>
          <p:nvPr/>
        </p:nvSpPr>
        <p:spPr>
          <a:xfrm>
            <a:off x="6364224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2주 측정 협조</a:t>
            </a:r>
            <a:endParaRPr lang="en-US" sz="1600" dirty="0"/>
          </a:p>
        </p:txBody>
      </p:sp>
      <p:sp>
        <p:nvSpPr>
          <p:cNvPr id="14" name="t215"/>
          <p:cNvSpPr txBox="1"/>
          <p:nvPr/>
        </p:nvSpPr>
        <p:spPr>
          <a:xfrm>
            <a:off x="6364224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운영팀 건수·응대 시간 기록</a:t>
            </a:r>
            <a:endParaRPr lang="en-US" sz="1400" dirty="0"/>
          </a:p>
        </p:txBody>
      </p:sp>
      <p:sp>
        <p:nvSpPr>
          <p:cNvPr id="15" name="r216"/>
          <p:cNvSpPr/>
          <p:nvPr/>
        </p:nvSpPr>
        <p:spPr>
          <a:xfrm>
            <a:off x="8997696" y="27889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217"/>
          <p:cNvSpPr txBox="1"/>
          <p:nvPr/>
        </p:nvSpPr>
        <p:spPr>
          <a:xfrm>
            <a:off x="9180576" y="2880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법무·정보보호 검토</a:t>
            </a:r>
            <a:endParaRPr lang="en-US" sz="1600" dirty="0"/>
          </a:p>
        </p:txBody>
      </p:sp>
      <p:sp>
        <p:nvSpPr>
          <p:cNvPr id="17" name="t218"/>
          <p:cNvSpPr txBox="1"/>
          <p:nvPr/>
        </p:nvSpPr>
        <p:spPr>
          <a:xfrm>
            <a:off x="9180576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처리위탁 계약, AI 상담 고지</a:t>
            </a:r>
            <a:endParaRPr lang="en-US" sz="1400" dirty="0"/>
          </a:p>
        </p:txBody>
      </p:sp>
      <p:sp>
        <p:nvSpPr>
          <p:cNvPr id="18" name="t219"/>
          <p:cNvSpPr txBox="1"/>
          <p:nvPr/>
        </p:nvSpPr>
        <p:spPr>
          <a:xfrm>
            <a:off x="5486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파일럿 성공 기준</a:t>
            </a:r>
            <a:endParaRPr lang="en-US" sz="1600" dirty="0"/>
          </a:p>
        </p:txBody>
      </p:sp>
      <p:sp>
        <p:nvSpPr>
          <p:cNvPr id="19" name="r220"/>
          <p:cNvSpPr/>
          <p:nvPr/>
        </p:nvSpPr>
        <p:spPr>
          <a:xfrm>
            <a:off x="548640" y="466344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221"/>
          <p:cNvSpPr txBox="1"/>
          <p:nvPr/>
        </p:nvSpPr>
        <p:spPr>
          <a:xfrm>
            <a:off x="548640" y="4709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25%</a:t>
            </a:r>
            <a:endParaRPr lang="en-US" sz="3000" dirty="0"/>
          </a:p>
        </p:txBody>
      </p:sp>
      <p:sp>
        <p:nvSpPr>
          <p:cNvPr id="21" name="t222"/>
          <p:cNvSpPr txBox="1"/>
          <p:nvPr/>
        </p:nvSpPr>
        <p:spPr>
          <a:xfrm>
            <a:off x="548640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챗봇 완결률</a:t>
            </a:r>
            <a:endParaRPr lang="en-US" sz="1400" dirty="0"/>
          </a:p>
        </p:txBody>
      </p:sp>
      <p:sp>
        <p:nvSpPr>
          <p:cNvPr id="22" name="r223"/>
          <p:cNvSpPr/>
          <p:nvPr/>
        </p:nvSpPr>
        <p:spPr>
          <a:xfrm>
            <a:off x="3364992" y="466344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224"/>
          <p:cNvSpPr txBox="1"/>
          <p:nvPr/>
        </p:nvSpPr>
        <p:spPr>
          <a:xfrm>
            <a:off x="3364992" y="4709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50%↓</a:t>
            </a:r>
            <a:endParaRPr lang="en-US" sz="3000" dirty="0"/>
          </a:p>
        </p:txBody>
      </p:sp>
      <p:sp>
        <p:nvSpPr>
          <p:cNvPr id="24" name="t225"/>
          <p:cNvSpPr txBox="1"/>
          <p:nvPr/>
        </p:nvSpPr>
        <p:spPr>
          <a:xfrm>
            <a:off x="3364992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기록 시간(최소)</a:t>
            </a:r>
            <a:endParaRPr lang="en-US" sz="1400" dirty="0"/>
          </a:p>
        </p:txBody>
      </p:sp>
      <p:sp>
        <p:nvSpPr>
          <p:cNvPr id="25" name="r226"/>
          <p:cNvSpPr/>
          <p:nvPr/>
        </p:nvSpPr>
        <p:spPr>
          <a:xfrm>
            <a:off x="6181344" y="466344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t227"/>
          <p:cNvSpPr txBox="1"/>
          <p:nvPr/>
        </p:nvSpPr>
        <p:spPr>
          <a:xfrm>
            <a:off x="6181344" y="4709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유지</a:t>
            </a:r>
            <a:endParaRPr lang="en-US" sz="3000" dirty="0"/>
          </a:p>
        </p:txBody>
      </p:sp>
      <p:sp>
        <p:nvSpPr>
          <p:cNvPr id="27" name="t228"/>
          <p:cNvSpPr txBox="1"/>
          <p:nvPr/>
        </p:nvSpPr>
        <p:spPr>
          <a:xfrm>
            <a:off x="6181344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고객 만족도</a:t>
            </a:r>
            <a:endParaRPr lang="en-US" sz="1400" dirty="0"/>
          </a:p>
        </p:txBody>
      </p:sp>
      <p:sp>
        <p:nvSpPr>
          <p:cNvPr id="28" name="r229"/>
          <p:cNvSpPr/>
          <p:nvPr/>
        </p:nvSpPr>
        <p:spPr>
          <a:xfrm>
            <a:off x="8997696" y="466344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t230"/>
          <p:cNvSpPr txBox="1"/>
          <p:nvPr/>
        </p:nvSpPr>
        <p:spPr>
          <a:xfrm>
            <a:off x="8997696" y="47091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0회</a:t>
            </a:r>
            <a:endParaRPr lang="en-US" sz="3000" dirty="0"/>
          </a:p>
        </p:txBody>
      </p:sp>
      <p:sp>
        <p:nvSpPr>
          <p:cNvPr id="30" name="t231"/>
          <p:cNvSpPr txBox="1"/>
          <p:nvPr/>
        </p:nvSpPr>
        <p:spPr>
          <a:xfrm>
            <a:off x="8997696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이관 후 재설명</a:t>
            </a:r>
            <a:endParaRPr lang="en-US" sz="1400" dirty="0"/>
          </a:p>
        </p:txBody>
      </p:sp>
      <p:sp>
        <p:nvSpPr>
          <p:cNvPr id="31" name="t232"/>
          <p:cNvSpPr txBox="1"/>
          <p:nvPr/>
        </p:nvSpPr>
        <p:spPr>
          <a:xfrm>
            <a:off x="548640" y="61081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성과 수치는 기업 발표·언론 보도 기준. 내부 수치는 모두 [가정]이며 사전 측정으로 대체. 출처 전체 링크는 슬라이드 노트 참조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s Navy">
  <a:themeElements>
    <a:clrScheme name="Ops Navy">
      <a:dk1>
        <a:srgbClr val="1F2937"/>
      </a:dk1>
      <a:lt1>
        <a:srgbClr val="FFFFFF"/>
      </a:lt1>
      <a:dk2>
        <a:srgbClr val="1F3864"/>
      </a:dk2>
      <a:lt2>
        <a:srgbClr val="F3F4F6"/>
      </a:lt2>
      <a:accent1>
        <a:srgbClr val="1F3864"/>
      </a:accent1>
      <a:accent2>
        <a:srgbClr val="DCE3F0"/>
      </a:accent2>
      <a:accent3>
        <a:srgbClr val="6B7280"/>
      </a:accent3>
      <a:accent4>
        <a:srgbClr val="D1D5DB"/>
      </a:accent4>
      <a:accent5>
        <a:srgbClr val="4A6491"/>
      </a:accent5>
      <a:accent6>
        <a:srgbClr val="9CA3AF"/>
      </a:accent6>
      <a:hlink>
        <a:srgbClr val="1F3864"/>
      </a:hlink>
      <a:folHlink>
        <a:srgbClr val="4A6491"/>
      </a:folHlink>
    </a:clrScheme>
    <a:fontScheme name="Ops Navy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고장 신고 1차 응대 AI 챗봇 도입 제안</dc:title>
  <dc:subject>PptxGenJS Presentation</dc:subject>
  <dc:creator>운영팀</dc:creator>
  <cp:lastModifiedBy>운영팀</cp:lastModifiedBy>
  <cp:revision>1</cp:revision>
  <dcterms:created xsi:type="dcterms:W3CDTF">2026-10-23T10:46:06Z</dcterms:created>
  <dcterms:modified xsi:type="dcterms:W3CDTF">2026-10-23T10:46:06Z</dcterms:modified>
</cp:coreProperties>
</file>